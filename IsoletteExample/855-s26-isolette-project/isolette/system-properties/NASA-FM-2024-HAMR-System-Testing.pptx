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1906" r:id="rId2"/>
    <p:sldId id="1924" r:id="rId3"/>
    <p:sldId id="1925" r:id="rId4"/>
    <p:sldId id="1913" r:id="rId5"/>
    <p:sldId id="1914" r:id="rId6"/>
    <p:sldId id="1916" r:id="rId7"/>
    <p:sldId id="1921" r:id="rId8"/>
    <p:sldId id="1911" r:id="rId9"/>
    <p:sldId id="1910" r:id="rId10"/>
    <p:sldId id="1917" r:id="rId11"/>
    <p:sldId id="1920" r:id="rId12"/>
    <p:sldId id="1918" r:id="rId13"/>
    <p:sldId id="1928" r:id="rId14"/>
    <p:sldId id="1852" r:id="rId15"/>
    <p:sldId id="1905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pitchFamily="-10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00"/>
    <a:srgbClr val="8922FD"/>
    <a:srgbClr val="92D050"/>
    <a:srgbClr val="8424F8"/>
    <a:srgbClr val="D6CDEC"/>
    <a:srgbClr val="78BD70"/>
    <a:srgbClr val="78B044"/>
    <a:srgbClr val="A4F15D"/>
    <a:srgbClr val="FFE3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/>
    <p:restoredTop sz="90884" autoAdjust="0"/>
  </p:normalViewPr>
  <p:slideViewPr>
    <p:cSldViewPr>
      <p:cViewPr varScale="1">
        <p:scale>
          <a:sx n="116" d="100"/>
          <a:sy n="116" d="100"/>
        </p:scale>
        <p:origin x="19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0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24480"/>
    </p:cViewPr>
  </p:sorterViewPr>
  <p:notesViewPr>
    <p:cSldViewPr>
      <p:cViewPr varScale="1">
        <p:scale>
          <a:sx n="55" d="100"/>
          <a:sy n="55" d="100"/>
        </p:scale>
        <p:origin x="-187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fld id="{E3C2E8F3-95F7-4145-A301-3FA10ED4E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84" charset="0"/>
              </a:defRPr>
            </a:lvl1pPr>
          </a:lstStyle>
          <a:p>
            <a:pPr>
              <a:defRPr/>
            </a:pPr>
            <a:fld id="{2BFE2475-28EF-9A44-97D3-D2287C00B1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itchFamily="-84" charset="-128"/>
        <a:cs typeface="ＭＳ Ｐゴシック" pitchFamily="-8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FE2475-28EF-9A44-97D3-D2287C00B1B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44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FE2475-28EF-9A44-97D3-D2287C00B1B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auto">
          <a:xfrm>
            <a:off x="0" y="0"/>
            <a:ext cx="9144000" cy="12954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ahoma" pitchFamily="-84" charset="0"/>
            </a:endParaRPr>
          </a:p>
        </p:txBody>
      </p:sp>
      <p:sp>
        <p:nvSpPr>
          <p:cNvPr id="5" name="Rectangle 18"/>
          <p:cNvSpPr>
            <a:spLocks noChangeArrowheads="1"/>
          </p:cNvSpPr>
          <p:nvPr userDrawn="1"/>
        </p:nvSpPr>
        <p:spPr bwMode="auto">
          <a:xfrm rot="16200000">
            <a:off x="-2514600" y="3810000"/>
            <a:ext cx="5562600" cy="5334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ahoma" pitchFamily="-84" charset="0"/>
            </a:endParaRP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E685A3-5A44-F34A-9DD6-E549D5259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399C2-1ADD-1549-9753-CEA7C1EED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848EDB-E059-EE4C-BEE4-92ACBFC1A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4000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524000"/>
            <a:ext cx="4000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9051A-5116-C044-BC66-ED283B4D5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3A91B-A097-8F43-A5C5-A8482E10C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AA622-F4CE-604D-A669-CD3D12FC5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15124-8EB2-6E40-9E50-F98D2465D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EE25D-892F-FA42-8251-4062CB60CA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6E9B7-6EE0-8D46-8C36-993F30F20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14967-302F-6E48-8678-32FDE0F329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0"/>
            <a:ext cx="20383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9626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15ABF-0168-ED43-8055-FDAC86F85D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/>
          <p:cNvSpPr>
            <a:spLocks noChangeArrowheads="1"/>
          </p:cNvSpPr>
          <p:nvPr userDrawn="1"/>
        </p:nvSpPr>
        <p:spPr bwMode="auto">
          <a:xfrm rot="-5400000">
            <a:off x="-2590800" y="3733800"/>
            <a:ext cx="5715000" cy="533400"/>
          </a:xfrm>
          <a:prstGeom prst="rect">
            <a:avLst/>
          </a:prstGeom>
          <a:gradFill rotWithShape="0">
            <a:gsLst>
              <a:gs pos="0">
                <a:srgbClr val="DDCBE7"/>
              </a:gs>
              <a:gs pos="100000">
                <a:srgbClr val="DDCBE7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ahoma" pitchFamily="-84" charset="0"/>
            </a:endParaRPr>
          </a:p>
        </p:txBody>
      </p:sp>
      <p:sp>
        <p:nvSpPr>
          <p:cNvPr id="5134" name="Rectangle 14"/>
          <p:cNvSpPr>
            <a:spLocks noChangeArrowheads="1"/>
          </p:cNvSpPr>
          <p:nvPr userDrawn="1"/>
        </p:nvSpPr>
        <p:spPr bwMode="auto"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ahoma" pitchFamily="-8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8153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8153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3581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D0B6DE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4008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D0B6DE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fld id="{623F72AE-F2FC-1C4B-AEBE-5105C7AC91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-106" charset="2"/>
        <a:buChar char="n"/>
        <a:defRPr sz="32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-106" charset="2"/>
        <a:buChar char="n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106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-106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-106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8688-E4FC-1DDF-444B-B66F3D4F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this Paper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58E5F-38B3-8184-ACCE-526EB8CAC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453" y="1688068"/>
            <a:ext cx="8153400" cy="5017532"/>
          </a:xfrm>
        </p:spPr>
        <p:txBody>
          <a:bodyPr/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Contract-based (symbolic execution) 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verification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 of components (HILT 2022)</a:t>
            </a: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Property-based 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automated testing 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of components (FMICS 2023)</a:t>
            </a:r>
          </a:p>
          <a:p>
            <a:r>
              <a:rPr lang="en-US" sz="2800" dirty="0"/>
              <a:t>System testing based on </a:t>
            </a:r>
          </a:p>
          <a:p>
            <a:pPr lvl="1"/>
            <a:r>
              <a:rPr lang="en-US" sz="2400" dirty="0"/>
              <a:t>Guided exploration of static system schedules</a:t>
            </a:r>
          </a:p>
          <a:p>
            <a:pPr lvl="1"/>
            <a:r>
              <a:rPr lang="en-US" sz="2400" dirty="0"/>
              <a:t>Run-time monitoring of contracts of component pre-states and post-states</a:t>
            </a:r>
          </a:p>
          <a:p>
            <a:pPr lvl="1"/>
            <a:r>
              <a:rPr lang="en-US" sz="2400" dirty="0"/>
              <a:t>Framework of value injection and event observation</a:t>
            </a:r>
          </a:p>
          <a:p>
            <a:pPr lvl="1"/>
            <a:r>
              <a:rPr lang="en-US" sz="2400" dirty="0"/>
              <a:t>Distributed execution of system tests</a:t>
            </a:r>
          </a:p>
          <a:p>
            <a:pPr lvl="1"/>
            <a:r>
              <a:rPr lang="en-US" sz="2400" dirty="0"/>
              <a:t>Sophisticated reporting/coverage framework</a:t>
            </a:r>
          </a:p>
          <a:p>
            <a:pPr lvl="1"/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CCCF3-0FFE-78F7-A3FC-A9DDBBBDAC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D4900-88F1-E2DE-6AB8-D1B6B71B984B}"/>
              </a:ext>
            </a:extLst>
          </p:cNvPr>
          <p:cNvSpPr txBox="1"/>
          <p:nvPr/>
        </p:nvSpPr>
        <p:spPr>
          <a:xfrm>
            <a:off x="609600" y="1219200"/>
            <a:ext cx="84582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System Testing: Integrated Model- and Code-based framework for…</a:t>
            </a:r>
          </a:p>
        </p:txBody>
      </p:sp>
    </p:spTree>
    <p:extLst>
      <p:ext uri="{BB962C8B-B14F-4D97-AF65-F5344CB8AC3E}">
        <p14:creationId xmlns:p14="http://schemas.microsoft.com/office/powerpoint/2010/main" val="334077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DC00-DA67-FC45-A130-0DA072A1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HAMR System Testing Concepts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9990C-1484-6940-94CB-6E5AFD99B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47A4A-C36E-27E7-3CFF-A05E01B057C2}"/>
              </a:ext>
            </a:extLst>
          </p:cNvPr>
          <p:cNvSpPr/>
          <p:nvPr/>
        </p:nvSpPr>
        <p:spPr bwMode="auto">
          <a:xfrm>
            <a:off x="750554" y="3478022"/>
            <a:ext cx="9144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A36526-B4C1-244B-0753-6EEAF3ACFFAE}"/>
              </a:ext>
            </a:extLst>
          </p:cNvPr>
          <p:cNvSpPr txBox="1"/>
          <p:nvPr/>
        </p:nvSpPr>
        <p:spPr>
          <a:xfrm>
            <a:off x="680205" y="4098997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Initialization 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6D8C4CA5-FF3D-F41D-48CF-A404ADEA4F15}"/>
              </a:ext>
            </a:extLst>
          </p:cNvPr>
          <p:cNvSpPr/>
          <p:nvPr/>
        </p:nvSpPr>
        <p:spPr bwMode="auto">
          <a:xfrm rot="5400000">
            <a:off x="4737035" y="1052664"/>
            <a:ext cx="253916" cy="594087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22EA277F-2056-79F0-6E81-932DAA68FBDD}"/>
              </a:ext>
            </a:extLst>
          </p:cNvPr>
          <p:cNvSpPr/>
          <p:nvPr/>
        </p:nvSpPr>
        <p:spPr bwMode="auto">
          <a:xfrm rot="5400000">
            <a:off x="1093453" y="3493863"/>
            <a:ext cx="228600" cy="106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40D46-CF6B-D095-A497-21806374BACE}"/>
              </a:ext>
            </a:extLst>
          </p:cNvPr>
          <p:cNvSpPr txBox="1"/>
          <p:nvPr/>
        </p:nvSpPr>
        <p:spPr>
          <a:xfrm>
            <a:off x="4461552" y="4115791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Compute 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9D852-482B-9DC7-C64C-1B80030780B0}"/>
              </a:ext>
            </a:extLst>
          </p:cNvPr>
          <p:cNvSpPr txBox="1"/>
          <p:nvPr/>
        </p:nvSpPr>
        <p:spPr>
          <a:xfrm>
            <a:off x="2531687" y="3667398"/>
            <a:ext cx="2188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/>
              <a:t>scriptable execution progression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5F5C593-B33A-A474-2B4D-3C5CB2BE659D}"/>
              </a:ext>
            </a:extLst>
          </p:cNvPr>
          <p:cNvGrpSpPr/>
          <p:nvPr/>
        </p:nvGrpSpPr>
        <p:grpSpPr>
          <a:xfrm>
            <a:off x="5322554" y="2372144"/>
            <a:ext cx="1146468" cy="1182078"/>
            <a:chOff x="5322554" y="2613059"/>
            <a:chExt cx="1146468" cy="11820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733645-23A0-B423-3BB9-A1523E35CCDE}"/>
                </a:ext>
              </a:extLst>
            </p:cNvPr>
            <p:cNvSpPr txBox="1"/>
            <p:nvPr/>
          </p:nvSpPr>
          <p:spPr>
            <a:xfrm>
              <a:off x="5322554" y="2613059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&lt;w</a:t>
              </a:r>
              <a:r>
                <a:rPr lang="en-US" sz="1050" baseline="-25000" dirty="0"/>
                <a:t>1</a:t>
              </a:r>
              <a:r>
                <a:rPr lang="en-US" sz="1050" dirty="0"/>
                <a:t>,w</a:t>
              </a:r>
              <a:r>
                <a:rPr lang="en-US" sz="1050" baseline="-25000" dirty="0"/>
                <a:t>2</a:t>
              </a:r>
              <a:r>
                <a:rPr lang="en-US" sz="1050" dirty="0"/>
                <a:t>, ..., </a:t>
              </a:r>
              <a:r>
                <a:rPr lang="en-US" sz="1050" dirty="0" err="1"/>
                <a:t>w</a:t>
              </a:r>
              <a:r>
                <a:rPr lang="en-US" sz="1050" baseline="-25000" dirty="0" err="1"/>
                <a:t>k</a:t>
              </a:r>
              <a:r>
                <a:rPr lang="en-US" sz="1050" dirty="0"/>
                <a:t>&gt;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D09D980-315D-263A-0F54-6802F3CCF48D}"/>
                </a:ext>
              </a:extLst>
            </p:cNvPr>
            <p:cNvGrpSpPr/>
            <p:nvPr/>
          </p:nvGrpSpPr>
          <p:grpSpPr>
            <a:xfrm>
              <a:off x="5341775" y="2880737"/>
              <a:ext cx="1067536" cy="914400"/>
              <a:chOff x="5341775" y="2880737"/>
              <a:chExt cx="1067536" cy="914400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422B96D-CA70-EA05-F9C5-14553828CB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855954" y="2880737"/>
                <a:ext cx="0" cy="91440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5C66E65-CDCB-31C1-0E3B-1F5A2A566EAE}"/>
                  </a:ext>
                </a:extLst>
              </p:cNvPr>
              <p:cNvSpPr/>
              <p:nvPr/>
            </p:nvSpPr>
            <p:spPr bwMode="auto">
              <a:xfrm>
                <a:off x="5627354" y="3087918"/>
                <a:ext cx="495300" cy="304800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473FC1-A7C5-BF14-6168-B9C23A24D43E}"/>
                  </a:ext>
                </a:extLst>
              </p:cNvPr>
              <p:cNvSpPr txBox="1"/>
              <p:nvPr/>
            </p:nvSpPr>
            <p:spPr>
              <a:xfrm>
                <a:off x="5341775" y="3011946"/>
                <a:ext cx="10675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/>
                  <a:t>observe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5E655D-CA72-2877-9270-63CD79A446E7}"/>
              </a:ext>
            </a:extLst>
          </p:cNvPr>
          <p:cNvGrpSpPr/>
          <p:nvPr/>
        </p:nvGrpSpPr>
        <p:grpSpPr>
          <a:xfrm>
            <a:off x="3340986" y="2372144"/>
            <a:ext cx="1080865" cy="1182078"/>
            <a:chOff x="3340986" y="2613059"/>
            <a:chExt cx="1080865" cy="118207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7F5092-B69F-71C2-1591-0AC84E548941}"/>
                </a:ext>
              </a:extLst>
            </p:cNvPr>
            <p:cNvSpPr txBox="1"/>
            <p:nvPr/>
          </p:nvSpPr>
          <p:spPr>
            <a:xfrm>
              <a:off x="3366754" y="2613059"/>
              <a:ext cx="105509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&lt;v</a:t>
              </a:r>
              <a:r>
                <a:rPr lang="en-US" sz="1050" baseline="-25000" dirty="0"/>
                <a:t>1</a:t>
              </a:r>
              <a:r>
                <a:rPr lang="en-US" sz="1050" dirty="0"/>
                <a:t>,v</a:t>
              </a:r>
              <a:r>
                <a:rPr lang="en-US" sz="1050" baseline="-25000" dirty="0"/>
                <a:t>2</a:t>
              </a:r>
              <a:r>
                <a:rPr lang="en-US" sz="1050" dirty="0"/>
                <a:t>, ..., </a:t>
              </a:r>
              <a:r>
                <a:rPr lang="en-US" sz="1050" dirty="0" err="1"/>
                <a:t>v</a:t>
              </a:r>
              <a:r>
                <a:rPr lang="en-US" sz="1050" baseline="-25000" dirty="0" err="1"/>
                <a:t>n</a:t>
              </a:r>
              <a:r>
                <a:rPr lang="en-US" sz="1050" dirty="0"/>
                <a:t>&gt;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5E5DB70-E205-F11C-A0D1-3E795305DD41}"/>
                </a:ext>
              </a:extLst>
            </p:cNvPr>
            <p:cNvGrpSpPr/>
            <p:nvPr/>
          </p:nvGrpSpPr>
          <p:grpSpPr>
            <a:xfrm>
              <a:off x="3340986" y="2880737"/>
              <a:ext cx="1067536" cy="914400"/>
              <a:chOff x="3340986" y="2880737"/>
              <a:chExt cx="1067536" cy="91440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9261DB0F-91E3-A9BF-D8A8-859E45A6E60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874754" y="2880737"/>
                <a:ext cx="0" cy="91440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A408875-6C11-E341-AD32-EBF762875BCB}"/>
                  </a:ext>
                </a:extLst>
              </p:cNvPr>
              <p:cNvSpPr/>
              <p:nvPr/>
            </p:nvSpPr>
            <p:spPr bwMode="auto">
              <a:xfrm>
                <a:off x="3645246" y="3078225"/>
                <a:ext cx="495300" cy="304800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B27710-FD3D-21F8-F512-B8E38F6458CF}"/>
                  </a:ext>
                </a:extLst>
              </p:cNvPr>
              <p:cNvSpPr txBox="1"/>
              <p:nvPr/>
            </p:nvSpPr>
            <p:spPr>
              <a:xfrm>
                <a:off x="3340986" y="3011946"/>
                <a:ext cx="10675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/>
                  <a:t>observe</a:t>
                </a:r>
              </a:p>
            </p:txBody>
          </p:sp>
        </p:grp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AE62470F-90F6-0374-E470-1AC31E6B8EF3}"/>
              </a:ext>
            </a:extLst>
          </p:cNvPr>
          <p:cNvGrpSpPr/>
          <p:nvPr/>
        </p:nvGrpSpPr>
        <p:grpSpPr>
          <a:xfrm>
            <a:off x="2596681" y="1730636"/>
            <a:ext cx="3295636" cy="692328"/>
            <a:chOff x="2596681" y="1971551"/>
            <a:chExt cx="3295636" cy="69232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8B67C7-AEBF-CF61-2B80-33BFBC94BDC3}"/>
                </a:ext>
              </a:extLst>
            </p:cNvPr>
            <p:cNvSpPr txBox="1"/>
            <p:nvPr/>
          </p:nvSpPr>
          <p:spPr>
            <a:xfrm>
              <a:off x="3455654" y="1971551"/>
              <a:ext cx="2148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Property(   , ... ,   )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37AB59-58CA-41FF-D7D0-56D9E9FACD5C}"/>
                </a:ext>
              </a:extLst>
            </p:cNvPr>
            <p:cNvCxnSpPr>
              <a:cxnSpLocks/>
              <a:endCxn id="22" idx="2"/>
            </p:cNvCxnSpPr>
            <p:nvPr/>
          </p:nvCxnSpPr>
          <p:spPr bwMode="auto">
            <a:xfrm flipV="1">
              <a:off x="2596681" y="2340883"/>
              <a:ext cx="1933049" cy="2789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253F77-0A8D-67DE-E10B-3E8E1D73FB1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016331" y="2345376"/>
              <a:ext cx="835328" cy="31850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4EA3BA-8AFE-7B6D-8B11-921489DBC81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280824" y="2329356"/>
              <a:ext cx="611493" cy="3062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94772C-9972-9B9C-2827-520114B624E2}"/>
              </a:ext>
            </a:extLst>
          </p:cNvPr>
          <p:cNvGrpSpPr/>
          <p:nvPr/>
        </p:nvGrpSpPr>
        <p:grpSpPr>
          <a:xfrm>
            <a:off x="1095519" y="2322928"/>
            <a:ext cx="1894679" cy="1217532"/>
            <a:chOff x="1095519" y="2563843"/>
            <a:chExt cx="1894679" cy="121753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BC07FE-1C42-FCF8-0AE9-82575D2C7430}"/>
                </a:ext>
              </a:extLst>
            </p:cNvPr>
            <p:cNvGrpSpPr/>
            <p:nvPr/>
          </p:nvGrpSpPr>
          <p:grpSpPr>
            <a:xfrm>
              <a:off x="2037380" y="2866975"/>
              <a:ext cx="798617" cy="914400"/>
              <a:chOff x="2037380" y="2866975"/>
              <a:chExt cx="798617" cy="9144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270026-C443-4472-2007-ECF4BAE9CA9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426954" y="2866975"/>
                <a:ext cx="0" cy="91440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4950752-89DA-01D6-C27C-97DEC106E318}"/>
                  </a:ext>
                </a:extLst>
              </p:cNvPr>
              <p:cNvSpPr/>
              <p:nvPr/>
            </p:nvSpPr>
            <p:spPr bwMode="auto">
              <a:xfrm>
                <a:off x="2178397" y="3045860"/>
                <a:ext cx="495300" cy="304800"/>
              </a:xfrm>
              <a:prstGeom prst="ellipse">
                <a:avLst/>
              </a:prstGeom>
              <a:solidFill>
                <a:srgbClr val="FFE267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1D53C3-BD76-A3FC-6137-488998042930}"/>
                  </a:ext>
                </a:extLst>
              </p:cNvPr>
              <p:cNvSpPr txBox="1"/>
              <p:nvPr/>
            </p:nvSpPr>
            <p:spPr>
              <a:xfrm>
                <a:off x="2037380" y="2988371"/>
                <a:ext cx="7986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/>
                  <a:t>inject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0D6DE0B-22F0-6FE3-ED49-CF975C34A5CF}"/>
                </a:ext>
              </a:extLst>
            </p:cNvPr>
            <p:cNvGrpSpPr/>
            <p:nvPr/>
          </p:nvGrpSpPr>
          <p:grpSpPr>
            <a:xfrm>
              <a:off x="1095519" y="2563843"/>
              <a:ext cx="1894679" cy="454364"/>
              <a:chOff x="1095519" y="2563843"/>
              <a:chExt cx="1894679" cy="45436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F365B-4ACB-F45C-0533-7BD4DF1A7C16}"/>
                  </a:ext>
                </a:extLst>
              </p:cNvPr>
              <p:cNvSpPr txBox="1"/>
              <p:nvPr/>
            </p:nvSpPr>
            <p:spPr>
              <a:xfrm>
                <a:off x="1939910" y="2613059"/>
                <a:ext cx="105028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&lt;u</a:t>
                </a:r>
                <a:r>
                  <a:rPr lang="en-US" sz="1050" baseline="-25000" dirty="0"/>
                  <a:t>1</a:t>
                </a:r>
                <a:r>
                  <a:rPr lang="en-US" sz="1050" dirty="0"/>
                  <a:t>,u</a:t>
                </a:r>
                <a:r>
                  <a:rPr lang="en-US" sz="1050" baseline="-25000" dirty="0"/>
                  <a:t>2</a:t>
                </a:r>
                <a:r>
                  <a:rPr lang="en-US" sz="1050" dirty="0"/>
                  <a:t>, ..., </a:t>
                </a:r>
                <a:r>
                  <a:rPr lang="en-US" sz="1050" dirty="0" err="1"/>
                  <a:t>u</a:t>
                </a:r>
                <a:r>
                  <a:rPr lang="en-US" sz="1050" baseline="-25000" dirty="0" err="1"/>
                  <a:t>l</a:t>
                </a:r>
                <a:r>
                  <a:rPr lang="en-US" sz="1050" dirty="0"/>
                  <a:t>&gt;</a:t>
                </a:r>
              </a:p>
            </p:txBody>
          </p:sp>
          <p:sp>
            <p:nvSpPr>
              <p:cNvPr id="33" name="Right Brace 32">
                <a:extLst>
                  <a:ext uri="{FF2B5EF4-FFF2-40B4-BE49-F238E27FC236}">
                    <a16:creationId xmlns:a16="http://schemas.microsoft.com/office/drawing/2014/main" id="{B888A394-764A-2D93-ADF7-47DF2B767359}"/>
                  </a:ext>
                </a:extLst>
              </p:cNvPr>
              <p:cNvSpPr/>
              <p:nvPr/>
            </p:nvSpPr>
            <p:spPr bwMode="auto">
              <a:xfrm rot="10800000">
                <a:off x="1848400" y="2563843"/>
                <a:ext cx="191408" cy="399298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52F1F2-51E5-846B-0D98-780451AD5B1A}"/>
                  </a:ext>
                </a:extLst>
              </p:cNvPr>
              <p:cNvSpPr txBox="1"/>
              <p:nvPr/>
            </p:nvSpPr>
            <p:spPr>
              <a:xfrm>
                <a:off x="1095519" y="2587320"/>
                <a:ext cx="80840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i="1" dirty="0"/>
                  <a:t>value vectors</a:t>
                </a: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CDE5D281-ACE5-7E7F-6902-1E93F50B8CEC}"/>
              </a:ext>
            </a:extLst>
          </p:cNvPr>
          <p:cNvGrpSpPr/>
          <p:nvPr/>
        </p:nvGrpSpPr>
        <p:grpSpPr>
          <a:xfrm>
            <a:off x="609600" y="1447800"/>
            <a:ext cx="1931852" cy="848144"/>
            <a:chOff x="609600" y="1688715"/>
            <a:chExt cx="1931852" cy="84814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9CAF7E7-4917-7AA7-301B-5B2B3144AF72}"/>
                </a:ext>
              </a:extLst>
            </p:cNvPr>
            <p:cNvSpPr/>
            <p:nvPr/>
          </p:nvSpPr>
          <p:spPr bwMode="auto">
            <a:xfrm>
              <a:off x="636253" y="1688715"/>
              <a:ext cx="1209334" cy="8481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026" name="Picture 2" descr="Download Abacus Cog Graphic - Gear Icon Gif - Full Size PNG Image - PNGkit">
              <a:extLst>
                <a:ext uri="{FF2B5EF4-FFF2-40B4-BE49-F238E27FC236}">
                  <a16:creationId xmlns:a16="http://schemas.microsoft.com/office/drawing/2014/main" id="{15F4F694-218D-34AF-83A5-E79342BD3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5998" y="2150380"/>
              <a:ext cx="396889" cy="235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8DCB15-9125-5472-D801-0E835EC46698}"/>
                </a:ext>
              </a:extLst>
            </p:cNvPr>
            <p:cNvSpPr txBox="1"/>
            <p:nvPr/>
          </p:nvSpPr>
          <p:spPr>
            <a:xfrm>
              <a:off x="609600" y="1688715"/>
              <a:ext cx="10553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Randomizing</a:t>
              </a:r>
            </a:p>
            <a:p>
              <a:pPr algn="ctr"/>
              <a:r>
                <a:rPr lang="en-US" sz="1200" dirty="0"/>
                <a:t>Service</a:t>
              </a:r>
            </a:p>
          </p:txBody>
        </p:sp>
        <p:sp>
          <p:nvSpPr>
            <p:cNvPr id="45" name="Bent Arrow 44">
              <a:extLst>
                <a:ext uri="{FF2B5EF4-FFF2-40B4-BE49-F238E27FC236}">
                  <a16:creationId xmlns:a16="http://schemas.microsoft.com/office/drawing/2014/main" id="{279C9CF0-8239-4484-16E7-8A35AD26AD82}"/>
                </a:ext>
              </a:extLst>
            </p:cNvPr>
            <p:cNvSpPr/>
            <p:nvPr/>
          </p:nvSpPr>
          <p:spPr bwMode="auto">
            <a:xfrm rot="5400000">
              <a:off x="1969853" y="1960662"/>
              <a:ext cx="495300" cy="647898"/>
            </a:xfrm>
            <a:prstGeom prst="bentArrow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</p:grp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5C1D021-30A2-ED4F-5B86-81C998CDF061}"/>
              </a:ext>
            </a:extLst>
          </p:cNvPr>
          <p:cNvSpPr/>
          <p:nvPr/>
        </p:nvSpPr>
        <p:spPr bwMode="auto">
          <a:xfrm rot="5400000">
            <a:off x="8332454" y="3477044"/>
            <a:ext cx="228600" cy="106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0F6CC-1A7A-B68A-A38B-4F84554A2D5B}"/>
              </a:ext>
            </a:extLst>
          </p:cNvPr>
          <p:cNvSpPr txBox="1"/>
          <p:nvPr/>
        </p:nvSpPr>
        <p:spPr>
          <a:xfrm>
            <a:off x="7984887" y="4150061"/>
            <a:ext cx="943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Finalization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6CCDC3-CC4D-F060-D1FB-8EA1EC701711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>
            <a:off x="902954" y="3794376"/>
            <a:ext cx="1628733" cy="382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21CE06-C765-21EB-A8C4-CAF8530BBB6F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707" y="3787941"/>
            <a:ext cx="4119047" cy="2146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D715C55-D0CF-5218-585D-67117ED0AB55}"/>
              </a:ext>
            </a:extLst>
          </p:cNvPr>
          <p:cNvGrpSpPr/>
          <p:nvPr/>
        </p:nvGrpSpPr>
        <p:grpSpPr>
          <a:xfrm>
            <a:off x="3932338" y="3210344"/>
            <a:ext cx="1885516" cy="496278"/>
            <a:chOff x="3932338" y="3451259"/>
            <a:chExt cx="1885516" cy="49627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C1A91BE-9F70-0F5C-F987-A9C98C2DCADE}"/>
                </a:ext>
              </a:extLst>
            </p:cNvPr>
            <p:cNvSpPr/>
            <p:nvPr/>
          </p:nvSpPr>
          <p:spPr bwMode="auto">
            <a:xfrm>
              <a:off x="39509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7E03117-D632-38B0-C967-9CD3B61ACB82}"/>
                </a:ext>
              </a:extLst>
            </p:cNvPr>
            <p:cNvSpPr/>
            <p:nvPr/>
          </p:nvSpPr>
          <p:spPr bwMode="auto">
            <a:xfrm>
              <a:off x="44462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3C9DE10-10D6-86B7-4FBB-DD8D087343DF}"/>
                </a:ext>
              </a:extLst>
            </p:cNvPr>
            <p:cNvSpPr/>
            <p:nvPr/>
          </p:nvSpPr>
          <p:spPr bwMode="auto">
            <a:xfrm>
              <a:off x="49415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745E1DC-C5F8-A455-43B9-B68EC7819101}"/>
                </a:ext>
              </a:extLst>
            </p:cNvPr>
            <p:cNvSpPr/>
            <p:nvPr/>
          </p:nvSpPr>
          <p:spPr bwMode="auto">
            <a:xfrm>
              <a:off x="54368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7D1799C-8C95-DEFB-A470-E9FA3C86B06E}"/>
                </a:ext>
              </a:extLst>
            </p:cNvPr>
            <p:cNvGrpSpPr/>
            <p:nvPr/>
          </p:nvGrpSpPr>
          <p:grpSpPr>
            <a:xfrm>
              <a:off x="5398754" y="3451259"/>
              <a:ext cx="399616" cy="224872"/>
              <a:chOff x="6839384" y="2932597"/>
              <a:chExt cx="399616" cy="224872"/>
            </a:xfrm>
          </p:grpSpPr>
          <p:sp>
            <p:nvSpPr>
              <p:cNvPr id="133" name="Right Brace 132">
                <a:extLst>
                  <a:ext uri="{FF2B5EF4-FFF2-40B4-BE49-F238E27FC236}">
                    <a16:creationId xmlns:a16="http://schemas.microsoft.com/office/drawing/2014/main" id="{8A6CDEB3-C71C-F64D-71C1-FF468C9C1664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AAE8953C-64C0-C6A4-09E7-E0FD4047C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E2C4D33-D25A-B2A6-EE94-941417CE57A5}"/>
                </a:ext>
              </a:extLst>
            </p:cNvPr>
            <p:cNvGrpSpPr/>
            <p:nvPr/>
          </p:nvGrpSpPr>
          <p:grpSpPr>
            <a:xfrm>
              <a:off x="4941554" y="3454987"/>
              <a:ext cx="399616" cy="224872"/>
              <a:chOff x="6839384" y="2932597"/>
              <a:chExt cx="399616" cy="224872"/>
            </a:xfrm>
          </p:grpSpPr>
          <p:sp>
            <p:nvSpPr>
              <p:cNvPr id="136" name="Right Brace 135">
                <a:extLst>
                  <a:ext uri="{FF2B5EF4-FFF2-40B4-BE49-F238E27FC236}">
                    <a16:creationId xmlns:a16="http://schemas.microsoft.com/office/drawing/2014/main" id="{9B4BF4F7-090A-2BA0-54BC-9A1E13447C9F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51EC9125-6077-CEA2-4665-A36DA08CB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F90D8CA9-F74B-2DEC-DF70-BBB32CE41D02}"/>
                </a:ext>
              </a:extLst>
            </p:cNvPr>
            <p:cNvGrpSpPr/>
            <p:nvPr/>
          </p:nvGrpSpPr>
          <p:grpSpPr>
            <a:xfrm>
              <a:off x="4408154" y="3454987"/>
              <a:ext cx="399616" cy="224872"/>
              <a:chOff x="6839384" y="2932597"/>
              <a:chExt cx="399616" cy="224872"/>
            </a:xfrm>
          </p:grpSpPr>
          <p:sp>
            <p:nvSpPr>
              <p:cNvPr id="139" name="Right Brace 138">
                <a:extLst>
                  <a:ext uri="{FF2B5EF4-FFF2-40B4-BE49-F238E27FC236}">
                    <a16:creationId xmlns:a16="http://schemas.microsoft.com/office/drawing/2014/main" id="{0D4494BA-9C5D-8200-3134-767BEC31F7A8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71A18BA6-A8DE-6D7A-7DD3-D91B35E16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C575E83-C57B-5A6C-86C4-B4515BF371E4}"/>
                </a:ext>
              </a:extLst>
            </p:cNvPr>
            <p:cNvGrpSpPr/>
            <p:nvPr/>
          </p:nvGrpSpPr>
          <p:grpSpPr>
            <a:xfrm>
              <a:off x="3932338" y="3454987"/>
              <a:ext cx="399616" cy="224872"/>
              <a:chOff x="6839384" y="2932597"/>
              <a:chExt cx="399616" cy="224872"/>
            </a:xfrm>
          </p:grpSpPr>
          <p:sp>
            <p:nvSpPr>
              <p:cNvPr id="142" name="Right Brace 141">
                <a:extLst>
                  <a:ext uri="{FF2B5EF4-FFF2-40B4-BE49-F238E27FC236}">
                    <a16:creationId xmlns:a16="http://schemas.microsoft.com/office/drawing/2014/main" id="{A91C348E-6DA4-90F6-2070-A7CCEA23C0FE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332CC011-0799-870D-21DE-BFE55DB1C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394ADB-5308-1995-6BEC-5E7A81B318C7}"/>
              </a:ext>
            </a:extLst>
          </p:cNvPr>
          <p:cNvGrpSpPr/>
          <p:nvPr/>
        </p:nvGrpSpPr>
        <p:grpSpPr>
          <a:xfrm>
            <a:off x="3417554" y="3210344"/>
            <a:ext cx="419100" cy="496278"/>
            <a:chOff x="3417554" y="3451259"/>
            <a:chExt cx="419100" cy="49627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F5A78EE-D5B2-C864-6895-6CC4586467F6}"/>
                </a:ext>
              </a:extLst>
            </p:cNvPr>
            <p:cNvSpPr/>
            <p:nvPr/>
          </p:nvSpPr>
          <p:spPr bwMode="auto">
            <a:xfrm>
              <a:off x="34556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1DCD828B-A4D4-37A1-051B-A70BCE6E6EA2}"/>
                </a:ext>
              </a:extLst>
            </p:cNvPr>
            <p:cNvGrpSpPr/>
            <p:nvPr/>
          </p:nvGrpSpPr>
          <p:grpSpPr>
            <a:xfrm>
              <a:off x="3417554" y="3451259"/>
              <a:ext cx="399616" cy="224872"/>
              <a:chOff x="6839384" y="2932597"/>
              <a:chExt cx="399616" cy="224872"/>
            </a:xfrm>
          </p:grpSpPr>
          <p:sp>
            <p:nvSpPr>
              <p:cNvPr id="145" name="Right Brace 144">
                <a:extLst>
                  <a:ext uri="{FF2B5EF4-FFF2-40B4-BE49-F238E27FC236}">
                    <a16:creationId xmlns:a16="http://schemas.microsoft.com/office/drawing/2014/main" id="{20348C2B-F3FE-4048-E2CB-D7A96F281007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6" name="Picture 145">
                <a:extLst>
                  <a:ext uri="{FF2B5EF4-FFF2-40B4-BE49-F238E27FC236}">
                    <a16:creationId xmlns:a16="http://schemas.microsoft.com/office/drawing/2014/main" id="{CD3DF4B8-567C-245A-B4E1-3AEFDC783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424D7D-CC1C-1CA3-F6E8-C0213AC94D31}"/>
              </a:ext>
            </a:extLst>
          </p:cNvPr>
          <p:cNvGrpSpPr/>
          <p:nvPr/>
        </p:nvGrpSpPr>
        <p:grpSpPr>
          <a:xfrm>
            <a:off x="2941738" y="3214072"/>
            <a:ext cx="399616" cy="492550"/>
            <a:chOff x="2941738" y="3454987"/>
            <a:chExt cx="399616" cy="49255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C2454E-77B4-1795-C7CC-85B9EE335CE4}"/>
                </a:ext>
              </a:extLst>
            </p:cNvPr>
            <p:cNvSpPr/>
            <p:nvPr/>
          </p:nvSpPr>
          <p:spPr bwMode="auto">
            <a:xfrm>
              <a:off x="29603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C6DAB6AE-EA87-CF76-465F-761A0129DD82}"/>
                </a:ext>
              </a:extLst>
            </p:cNvPr>
            <p:cNvGrpSpPr/>
            <p:nvPr/>
          </p:nvGrpSpPr>
          <p:grpSpPr>
            <a:xfrm>
              <a:off x="2941738" y="3454987"/>
              <a:ext cx="399616" cy="224872"/>
              <a:chOff x="6839384" y="2932597"/>
              <a:chExt cx="399616" cy="224872"/>
            </a:xfrm>
          </p:grpSpPr>
          <p:sp>
            <p:nvSpPr>
              <p:cNvPr id="148" name="Right Brace 147">
                <a:extLst>
                  <a:ext uri="{FF2B5EF4-FFF2-40B4-BE49-F238E27FC236}">
                    <a16:creationId xmlns:a16="http://schemas.microsoft.com/office/drawing/2014/main" id="{BA9416DD-CD99-8656-F1EC-CDD2711C7C14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31BEE119-6A84-15D7-B65D-A530FD232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02E75E9-DB11-9029-D4BF-E5F99CBDF0C1}"/>
              </a:ext>
            </a:extLst>
          </p:cNvPr>
          <p:cNvGrpSpPr/>
          <p:nvPr/>
        </p:nvGrpSpPr>
        <p:grpSpPr>
          <a:xfrm>
            <a:off x="2465054" y="3210344"/>
            <a:ext cx="419100" cy="496278"/>
            <a:chOff x="2465054" y="3451259"/>
            <a:chExt cx="419100" cy="49627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F54D81-EDCF-A848-E5F4-8A1534DB9AD0}"/>
                </a:ext>
              </a:extLst>
            </p:cNvPr>
            <p:cNvSpPr/>
            <p:nvPr/>
          </p:nvSpPr>
          <p:spPr bwMode="auto">
            <a:xfrm>
              <a:off x="24650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80A38B2C-B819-8783-4C69-B6F624A094BD}"/>
                </a:ext>
              </a:extLst>
            </p:cNvPr>
            <p:cNvGrpSpPr/>
            <p:nvPr/>
          </p:nvGrpSpPr>
          <p:grpSpPr>
            <a:xfrm>
              <a:off x="2484538" y="3451259"/>
              <a:ext cx="399616" cy="224872"/>
              <a:chOff x="6839384" y="2932597"/>
              <a:chExt cx="399616" cy="224872"/>
            </a:xfrm>
          </p:grpSpPr>
          <p:sp>
            <p:nvSpPr>
              <p:cNvPr id="151" name="Right Brace 150">
                <a:extLst>
                  <a:ext uri="{FF2B5EF4-FFF2-40B4-BE49-F238E27FC236}">
                    <a16:creationId xmlns:a16="http://schemas.microsoft.com/office/drawing/2014/main" id="{753ED877-B9A1-1F9E-18A5-39EA74D549EB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52" name="Picture 151">
                <a:extLst>
                  <a:ext uri="{FF2B5EF4-FFF2-40B4-BE49-F238E27FC236}">
                    <a16:creationId xmlns:a16="http://schemas.microsoft.com/office/drawing/2014/main" id="{89FD0FA7-1F93-7FA0-D701-3FC4D5A79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F66E9A-DC2F-4FDB-0165-1EB32CFA4EB9}"/>
              </a:ext>
            </a:extLst>
          </p:cNvPr>
          <p:cNvGrpSpPr/>
          <p:nvPr/>
        </p:nvGrpSpPr>
        <p:grpSpPr>
          <a:xfrm>
            <a:off x="1951138" y="3214072"/>
            <a:ext cx="399616" cy="492550"/>
            <a:chOff x="1951138" y="3454987"/>
            <a:chExt cx="399616" cy="4925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990225-471C-BBAE-991E-01CA73F55564}"/>
                </a:ext>
              </a:extLst>
            </p:cNvPr>
            <p:cNvSpPr/>
            <p:nvPr/>
          </p:nvSpPr>
          <p:spPr bwMode="auto">
            <a:xfrm>
              <a:off x="19697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BE4A4B95-D1A1-2182-81BA-1D4620A93759}"/>
                </a:ext>
              </a:extLst>
            </p:cNvPr>
            <p:cNvGrpSpPr/>
            <p:nvPr/>
          </p:nvGrpSpPr>
          <p:grpSpPr>
            <a:xfrm>
              <a:off x="1951138" y="3454987"/>
              <a:ext cx="399616" cy="224872"/>
              <a:chOff x="6839384" y="2932597"/>
              <a:chExt cx="399616" cy="224872"/>
            </a:xfrm>
          </p:grpSpPr>
          <p:sp>
            <p:nvSpPr>
              <p:cNvPr id="154" name="Right Brace 153">
                <a:extLst>
                  <a:ext uri="{FF2B5EF4-FFF2-40B4-BE49-F238E27FC236}">
                    <a16:creationId xmlns:a16="http://schemas.microsoft.com/office/drawing/2014/main" id="{12FABF6B-3819-8D23-32F9-1A3BAD0C650E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55" name="Picture 154">
                <a:extLst>
                  <a:ext uri="{FF2B5EF4-FFF2-40B4-BE49-F238E27FC236}">
                    <a16:creationId xmlns:a16="http://schemas.microsoft.com/office/drawing/2014/main" id="{17F156FD-D541-8818-F9B0-FF2B6551F9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7E876D9-A872-6625-E2EE-EBF18CCE5516}"/>
              </a:ext>
            </a:extLst>
          </p:cNvPr>
          <p:cNvGrpSpPr/>
          <p:nvPr/>
        </p:nvGrpSpPr>
        <p:grpSpPr>
          <a:xfrm>
            <a:off x="5913538" y="3210344"/>
            <a:ext cx="3066616" cy="527161"/>
            <a:chOff x="5913538" y="3451259"/>
            <a:chExt cx="3066616" cy="5271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5B23847-C4AB-E73F-D3D0-B88D94FA8619}"/>
                </a:ext>
              </a:extLst>
            </p:cNvPr>
            <p:cNvSpPr/>
            <p:nvPr/>
          </p:nvSpPr>
          <p:spPr bwMode="auto">
            <a:xfrm>
              <a:off x="59321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05424C7-3A8F-6064-173B-D41C18F84651}"/>
                </a:ext>
              </a:extLst>
            </p:cNvPr>
            <p:cNvSpPr/>
            <p:nvPr/>
          </p:nvSpPr>
          <p:spPr bwMode="auto">
            <a:xfrm>
              <a:off x="64274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0AE0B1F-2BFB-E7F3-3679-B334229EB001}"/>
                </a:ext>
              </a:extLst>
            </p:cNvPr>
            <p:cNvSpPr/>
            <p:nvPr/>
          </p:nvSpPr>
          <p:spPr bwMode="auto">
            <a:xfrm>
              <a:off x="69227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3849361-461E-5B0C-19AE-CE0C0A3B0C6C}"/>
                </a:ext>
              </a:extLst>
            </p:cNvPr>
            <p:cNvSpPr/>
            <p:nvPr/>
          </p:nvSpPr>
          <p:spPr bwMode="auto">
            <a:xfrm>
              <a:off x="7913354" y="3718937"/>
              <a:ext cx="10668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84D895-04D1-3D74-5B14-9EBCABEEE368}"/>
                </a:ext>
              </a:extLst>
            </p:cNvPr>
            <p:cNvSpPr txBox="1"/>
            <p:nvPr/>
          </p:nvSpPr>
          <p:spPr>
            <a:xfrm>
              <a:off x="7370844" y="3516755"/>
              <a:ext cx="4635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79411CA-7802-5730-63D9-9C4BAAB3EDC4}"/>
                </a:ext>
              </a:extLst>
            </p:cNvPr>
            <p:cNvGrpSpPr/>
            <p:nvPr/>
          </p:nvGrpSpPr>
          <p:grpSpPr>
            <a:xfrm>
              <a:off x="6904138" y="3454987"/>
              <a:ext cx="399616" cy="224872"/>
              <a:chOff x="6839384" y="2932597"/>
              <a:chExt cx="399616" cy="224872"/>
            </a:xfrm>
          </p:grpSpPr>
          <p:sp>
            <p:nvSpPr>
              <p:cNvPr id="58" name="Right Brace 57">
                <a:extLst>
                  <a:ext uri="{FF2B5EF4-FFF2-40B4-BE49-F238E27FC236}">
                    <a16:creationId xmlns:a16="http://schemas.microsoft.com/office/drawing/2014/main" id="{9DB68DDB-7B49-025B-5117-62385C5E4FA7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2AC6E3D4-6AC9-CE7F-F739-0486B16867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FCBBD49-3550-C38B-E183-3953EC04EA88}"/>
                </a:ext>
              </a:extLst>
            </p:cNvPr>
            <p:cNvGrpSpPr/>
            <p:nvPr/>
          </p:nvGrpSpPr>
          <p:grpSpPr>
            <a:xfrm>
              <a:off x="6389354" y="3454987"/>
              <a:ext cx="399616" cy="224872"/>
              <a:chOff x="6839384" y="2932597"/>
              <a:chExt cx="399616" cy="224872"/>
            </a:xfrm>
          </p:grpSpPr>
          <p:sp>
            <p:nvSpPr>
              <p:cNvPr id="63" name="Right Brace 62">
                <a:extLst>
                  <a:ext uri="{FF2B5EF4-FFF2-40B4-BE49-F238E27FC236}">
                    <a16:creationId xmlns:a16="http://schemas.microsoft.com/office/drawing/2014/main" id="{FA0997FF-72C7-1627-7353-1D8BCD6403F9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66146E2A-C40D-0479-38C6-BBEACF1DD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4C371210-C2D0-16D3-D0B1-B0436E5D4FA9}"/>
                </a:ext>
              </a:extLst>
            </p:cNvPr>
            <p:cNvGrpSpPr/>
            <p:nvPr/>
          </p:nvGrpSpPr>
          <p:grpSpPr>
            <a:xfrm>
              <a:off x="5913538" y="3451259"/>
              <a:ext cx="399616" cy="224872"/>
              <a:chOff x="6839384" y="2932597"/>
              <a:chExt cx="399616" cy="224872"/>
            </a:xfrm>
          </p:grpSpPr>
          <p:sp>
            <p:nvSpPr>
              <p:cNvPr id="130" name="Right Brace 129">
                <a:extLst>
                  <a:ext uri="{FF2B5EF4-FFF2-40B4-BE49-F238E27FC236}">
                    <a16:creationId xmlns:a16="http://schemas.microsoft.com/office/drawing/2014/main" id="{6821E4EA-45B9-2521-C3F0-0214CF961B92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08D54FD3-74D8-D415-D50C-841EACF2FD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A23D4CA-4CBF-02F2-04D2-819F54DC5ECB}"/>
              </a:ext>
            </a:extLst>
          </p:cNvPr>
          <p:cNvGrpSpPr/>
          <p:nvPr/>
        </p:nvGrpSpPr>
        <p:grpSpPr>
          <a:xfrm>
            <a:off x="7049665" y="2270222"/>
            <a:ext cx="1352597" cy="838706"/>
            <a:chOff x="7049665" y="2511137"/>
            <a:chExt cx="1352597" cy="83870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B3A50F3-8BD8-EFDF-54A4-FF1819D2CD7D}"/>
                </a:ext>
              </a:extLst>
            </p:cNvPr>
            <p:cNvSpPr txBox="1"/>
            <p:nvPr/>
          </p:nvSpPr>
          <p:spPr>
            <a:xfrm>
              <a:off x="7188255" y="2511137"/>
              <a:ext cx="12140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Integrated contract </a:t>
              </a:r>
            </a:p>
            <a:p>
              <a:pPr algn="ctr"/>
              <a:r>
                <a:rPr lang="en-US" sz="1600" i="1" dirty="0"/>
                <a:t>checking</a:t>
              </a: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093F219-83B6-621D-C966-6A1B73DBEA9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049665" y="3151178"/>
              <a:ext cx="253722" cy="19866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EF9B365F-1C0C-52C7-D609-BF616E7E2CAD}"/>
              </a:ext>
            </a:extLst>
          </p:cNvPr>
          <p:cNvGrpSpPr/>
          <p:nvPr/>
        </p:nvGrpSpPr>
        <p:grpSpPr>
          <a:xfrm>
            <a:off x="308907" y="4899200"/>
            <a:ext cx="4230921" cy="1398667"/>
            <a:chOff x="308907" y="4899200"/>
            <a:chExt cx="4230921" cy="1398667"/>
          </a:xfrm>
        </p:grpSpPr>
        <p:pic>
          <p:nvPicPr>
            <p:cNvPr id="1032" name="Picture 1031">
              <a:extLst>
                <a:ext uri="{FF2B5EF4-FFF2-40B4-BE49-F238E27FC236}">
                  <a16:creationId xmlns:a16="http://schemas.microsoft.com/office/drawing/2014/main" id="{2689F6AF-1ECB-0735-F6A4-01CD0244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0879" y="4899200"/>
              <a:ext cx="3158949" cy="1334767"/>
            </a:xfrm>
            <a:prstGeom prst="rect">
              <a:avLst/>
            </a:prstGeom>
          </p:spPr>
        </p:pic>
        <p:sp>
          <p:nvSpPr>
            <p:cNvPr id="1025" name="Text Box 43">
              <a:extLst>
                <a:ext uri="{FF2B5EF4-FFF2-40B4-BE49-F238E27FC236}">
                  <a16:creationId xmlns:a16="http://schemas.microsoft.com/office/drawing/2014/main" id="{7A286016-6537-95FA-DC0A-186A51E4C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07" y="5559203"/>
              <a:ext cx="1878862" cy="7386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Auto-generated Distribution of Tests on Servers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80C0F0EF-193E-B4F6-84A6-DEB2D28829C9}"/>
              </a:ext>
            </a:extLst>
          </p:cNvPr>
          <p:cNvGrpSpPr/>
          <p:nvPr/>
        </p:nvGrpSpPr>
        <p:grpSpPr>
          <a:xfrm>
            <a:off x="5410985" y="4757809"/>
            <a:ext cx="3571823" cy="1992119"/>
            <a:chOff x="5410985" y="4757809"/>
            <a:chExt cx="3571823" cy="1992119"/>
          </a:xfrm>
        </p:grpSpPr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CC134FAC-D924-3DE4-1A7C-03BBEDD19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0985" y="4757809"/>
              <a:ext cx="2894931" cy="1992119"/>
            </a:xfrm>
            <a:prstGeom prst="rect">
              <a:avLst/>
            </a:prstGeom>
          </p:spPr>
        </p:pic>
        <p:sp>
          <p:nvSpPr>
            <p:cNvPr id="1033" name="Text Box 43">
              <a:extLst>
                <a:ext uri="{FF2B5EF4-FFF2-40B4-BE49-F238E27FC236}">
                  <a16:creationId xmlns:a16="http://schemas.microsoft.com/office/drawing/2014/main" id="{C91137A2-531B-405B-0061-47DADA88C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3946" y="5745404"/>
              <a:ext cx="1878862" cy="95410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Auto-generated Hyper-linked Test Reports and Assurance Evidence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91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DC00-DA67-FC45-A130-0DA072A1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HAMR System Testing Concepts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9990C-1484-6940-94CB-6E5AFD99B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47A4A-C36E-27E7-3CFF-A05E01B057C2}"/>
              </a:ext>
            </a:extLst>
          </p:cNvPr>
          <p:cNvSpPr/>
          <p:nvPr/>
        </p:nvSpPr>
        <p:spPr bwMode="auto">
          <a:xfrm>
            <a:off x="750554" y="3478022"/>
            <a:ext cx="9144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A36526-B4C1-244B-0753-6EEAF3ACFFAE}"/>
              </a:ext>
            </a:extLst>
          </p:cNvPr>
          <p:cNvSpPr txBox="1"/>
          <p:nvPr/>
        </p:nvSpPr>
        <p:spPr>
          <a:xfrm>
            <a:off x="680205" y="4098997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Initialization 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6D8C4CA5-FF3D-F41D-48CF-A404ADEA4F15}"/>
              </a:ext>
            </a:extLst>
          </p:cNvPr>
          <p:cNvSpPr/>
          <p:nvPr/>
        </p:nvSpPr>
        <p:spPr bwMode="auto">
          <a:xfrm rot="5400000">
            <a:off x="4737035" y="1052664"/>
            <a:ext cx="253916" cy="594087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22EA277F-2056-79F0-6E81-932DAA68FBDD}"/>
              </a:ext>
            </a:extLst>
          </p:cNvPr>
          <p:cNvSpPr/>
          <p:nvPr/>
        </p:nvSpPr>
        <p:spPr bwMode="auto">
          <a:xfrm rot="5400000">
            <a:off x="1093453" y="3493863"/>
            <a:ext cx="228600" cy="106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40D46-CF6B-D095-A497-21806374BACE}"/>
              </a:ext>
            </a:extLst>
          </p:cNvPr>
          <p:cNvSpPr txBox="1"/>
          <p:nvPr/>
        </p:nvSpPr>
        <p:spPr>
          <a:xfrm>
            <a:off x="4461552" y="4115791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Compute 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9D852-482B-9DC7-C64C-1B80030780B0}"/>
              </a:ext>
            </a:extLst>
          </p:cNvPr>
          <p:cNvSpPr txBox="1"/>
          <p:nvPr/>
        </p:nvSpPr>
        <p:spPr>
          <a:xfrm>
            <a:off x="2531687" y="3667398"/>
            <a:ext cx="2188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dirty="0"/>
              <a:t>scriptable execution progression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5F5C593-B33A-A474-2B4D-3C5CB2BE659D}"/>
              </a:ext>
            </a:extLst>
          </p:cNvPr>
          <p:cNvGrpSpPr/>
          <p:nvPr/>
        </p:nvGrpSpPr>
        <p:grpSpPr>
          <a:xfrm>
            <a:off x="5322554" y="2372144"/>
            <a:ext cx="1146468" cy="1182078"/>
            <a:chOff x="5322554" y="2613059"/>
            <a:chExt cx="1146468" cy="11820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733645-23A0-B423-3BB9-A1523E35CCDE}"/>
                </a:ext>
              </a:extLst>
            </p:cNvPr>
            <p:cNvSpPr txBox="1"/>
            <p:nvPr/>
          </p:nvSpPr>
          <p:spPr>
            <a:xfrm>
              <a:off x="5322554" y="2613059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&lt;w</a:t>
              </a:r>
              <a:r>
                <a:rPr lang="en-US" sz="1050" baseline="-25000" dirty="0"/>
                <a:t>1</a:t>
              </a:r>
              <a:r>
                <a:rPr lang="en-US" sz="1050" dirty="0"/>
                <a:t>,w</a:t>
              </a:r>
              <a:r>
                <a:rPr lang="en-US" sz="1050" baseline="-25000" dirty="0"/>
                <a:t>2</a:t>
              </a:r>
              <a:r>
                <a:rPr lang="en-US" sz="1050" dirty="0"/>
                <a:t>, ..., </a:t>
              </a:r>
              <a:r>
                <a:rPr lang="en-US" sz="1050" dirty="0" err="1"/>
                <a:t>w</a:t>
              </a:r>
              <a:r>
                <a:rPr lang="en-US" sz="1050" baseline="-25000" dirty="0" err="1"/>
                <a:t>k</a:t>
              </a:r>
              <a:r>
                <a:rPr lang="en-US" sz="1050" dirty="0"/>
                <a:t>&gt;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D09D980-315D-263A-0F54-6802F3CCF48D}"/>
                </a:ext>
              </a:extLst>
            </p:cNvPr>
            <p:cNvGrpSpPr/>
            <p:nvPr/>
          </p:nvGrpSpPr>
          <p:grpSpPr>
            <a:xfrm>
              <a:off x="5341775" y="2880737"/>
              <a:ext cx="1067536" cy="914400"/>
              <a:chOff x="5341775" y="2880737"/>
              <a:chExt cx="1067536" cy="914400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422B96D-CA70-EA05-F9C5-14553828CB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855954" y="2880737"/>
                <a:ext cx="0" cy="91440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5C66E65-CDCB-31C1-0E3B-1F5A2A566EAE}"/>
                  </a:ext>
                </a:extLst>
              </p:cNvPr>
              <p:cNvSpPr/>
              <p:nvPr/>
            </p:nvSpPr>
            <p:spPr bwMode="auto">
              <a:xfrm>
                <a:off x="5627354" y="3087918"/>
                <a:ext cx="495300" cy="304800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473FC1-A7C5-BF14-6168-B9C23A24D43E}"/>
                  </a:ext>
                </a:extLst>
              </p:cNvPr>
              <p:cNvSpPr txBox="1"/>
              <p:nvPr/>
            </p:nvSpPr>
            <p:spPr>
              <a:xfrm>
                <a:off x="5341775" y="3011946"/>
                <a:ext cx="10675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/>
                  <a:t>observe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5E655D-CA72-2877-9270-63CD79A446E7}"/>
              </a:ext>
            </a:extLst>
          </p:cNvPr>
          <p:cNvGrpSpPr/>
          <p:nvPr/>
        </p:nvGrpSpPr>
        <p:grpSpPr>
          <a:xfrm>
            <a:off x="3340986" y="2372144"/>
            <a:ext cx="1080865" cy="1182078"/>
            <a:chOff x="3340986" y="2613059"/>
            <a:chExt cx="1080865" cy="118207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7F5092-B69F-71C2-1591-0AC84E548941}"/>
                </a:ext>
              </a:extLst>
            </p:cNvPr>
            <p:cNvSpPr txBox="1"/>
            <p:nvPr/>
          </p:nvSpPr>
          <p:spPr>
            <a:xfrm>
              <a:off x="3366754" y="2613059"/>
              <a:ext cx="105509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&lt;v</a:t>
              </a:r>
              <a:r>
                <a:rPr lang="en-US" sz="1050" baseline="-25000" dirty="0"/>
                <a:t>1</a:t>
              </a:r>
              <a:r>
                <a:rPr lang="en-US" sz="1050" dirty="0"/>
                <a:t>,v</a:t>
              </a:r>
              <a:r>
                <a:rPr lang="en-US" sz="1050" baseline="-25000" dirty="0"/>
                <a:t>2</a:t>
              </a:r>
              <a:r>
                <a:rPr lang="en-US" sz="1050" dirty="0"/>
                <a:t>, ..., </a:t>
              </a:r>
              <a:r>
                <a:rPr lang="en-US" sz="1050" dirty="0" err="1"/>
                <a:t>v</a:t>
              </a:r>
              <a:r>
                <a:rPr lang="en-US" sz="1050" baseline="-25000" dirty="0" err="1"/>
                <a:t>n</a:t>
              </a:r>
              <a:r>
                <a:rPr lang="en-US" sz="1050" dirty="0"/>
                <a:t>&gt;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5E5DB70-E205-F11C-A0D1-3E795305DD41}"/>
                </a:ext>
              </a:extLst>
            </p:cNvPr>
            <p:cNvGrpSpPr/>
            <p:nvPr/>
          </p:nvGrpSpPr>
          <p:grpSpPr>
            <a:xfrm>
              <a:off x="3340986" y="2880737"/>
              <a:ext cx="1067536" cy="914400"/>
              <a:chOff x="3340986" y="2880737"/>
              <a:chExt cx="1067536" cy="91440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9261DB0F-91E3-A9BF-D8A8-859E45A6E60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874754" y="2880737"/>
                <a:ext cx="0" cy="91440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A408875-6C11-E341-AD32-EBF762875BCB}"/>
                  </a:ext>
                </a:extLst>
              </p:cNvPr>
              <p:cNvSpPr/>
              <p:nvPr/>
            </p:nvSpPr>
            <p:spPr bwMode="auto">
              <a:xfrm>
                <a:off x="3645246" y="3078225"/>
                <a:ext cx="495300" cy="304800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B27710-FD3D-21F8-F512-B8E38F6458CF}"/>
                  </a:ext>
                </a:extLst>
              </p:cNvPr>
              <p:cNvSpPr txBox="1"/>
              <p:nvPr/>
            </p:nvSpPr>
            <p:spPr>
              <a:xfrm>
                <a:off x="3340986" y="3011946"/>
                <a:ext cx="10675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/>
                  <a:t>observe</a:t>
                </a:r>
              </a:p>
            </p:txBody>
          </p:sp>
        </p:grp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AE62470F-90F6-0374-E470-1AC31E6B8EF3}"/>
              </a:ext>
            </a:extLst>
          </p:cNvPr>
          <p:cNvGrpSpPr/>
          <p:nvPr/>
        </p:nvGrpSpPr>
        <p:grpSpPr>
          <a:xfrm>
            <a:off x="2596681" y="1730636"/>
            <a:ext cx="3295636" cy="692328"/>
            <a:chOff x="2596681" y="1971551"/>
            <a:chExt cx="3295636" cy="69232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8B67C7-AEBF-CF61-2B80-33BFBC94BDC3}"/>
                </a:ext>
              </a:extLst>
            </p:cNvPr>
            <p:cNvSpPr txBox="1"/>
            <p:nvPr/>
          </p:nvSpPr>
          <p:spPr>
            <a:xfrm>
              <a:off x="3455654" y="1971551"/>
              <a:ext cx="2148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Property(   , ... ,   )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37AB59-58CA-41FF-D7D0-56D9E9FACD5C}"/>
                </a:ext>
              </a:extLst>
            </p:cNvPr>
            <p:cNvCxnSpPr>
              <a:cxnSpLocks/>
              <a:endCxn id="22" idx="2"/>
            </p:cNvCxnSpPr>
            <p:nvPr/>
          </p:nvCxnSpPr>
          <p:spPr bwMode="auto">
            <a:xfrm flipV="1">
              <a:off x="2596681" y="2340883"/>
              <a:ext cx="1933049" cy="2789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253F77-0A8D-67DE-E10B-3E8E1D73FB1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016331" y="2345376"/>
              <a:ext cx="835328" cy="31850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4EA3BA-8AFE-7B6D-8B11-921489DBC81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280824" y="2329356"/>
              <a:ext cx="611493" cy="3062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94772C-9972-9B9C-2827-520114B624E2}"/>
              </a:ext>
            </a:extLst>
          </p:cNvPr>
          <p:cNvGrpSpPr/>
          <p:nvPr/>
        </p:nvGrpSpPr>
        <p:grpSpPr>
          <a:xfrm>
            <a:off x="1095519" y="2322928"/>
            <a:ext cx="1894679" cy="1217532"/>
            <a:chOff x="1095519" y="2563843"/>
            <a:chExt cx="1894679" cy="121753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BC07FE-1C42-FCF8-0AE9-82575D2C7430}"/>
                </a:ext>
              </a:extLst>
            </p:cNvPr>
            <p:cNvGrpSpPr/>
            <p:nvPr/>
          </p:nvGrpSpPr>
          <p:grpSpPr>
            <a:xfrm>
              <a:off x="2037380" y="2866975"/>
              <a:ext cx="798617" cy="914400"/>
              <a:chOff x="2037380" y="2866975"/>
              <a:chExt cx="798617" cy="91440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270026-C443-4472-2007-ECF4BAE9CA9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426954" y="2866975"/>
                <a:ext cx="0" cy="91440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4950752-89DA-01D6-C27C-97DEC106E318}"/>
                  </a:ext>
                </a:extLst>
              </p:cNvPr>
              <p:cNvSpPr/>
              <p:nvPr/>
            </p:nvSpPr>
            <p:spPr bwMode="auto">
              <a:xfrm>
                <a:off x="2178397" y="3045860"/>
                <a:ext cx="495300" cy="304800"/>
              </a:xfrm>
              <a:prstGeom prst="ellipse">
                <a:avLst/>
              </a:prstGeom>
              <a:solidFill>
                <a:srgbClr val="FFE267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1D53C3-BD76-A3FC-6137-488998042930}"/>
                  </a:ext>
                </a:extLst>
              </p:cNvPr>
              <p:cNvSpPr txBox="1"/>
              <p:nvPr/>
            </p:nvSpPr>
            <p:spPr>
              <a:xfrm>
                <a:off x="2037380" y="2988371"/>
                <a:ext cx="7986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/>
                  <a:t>inject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0D6DE0B-22F0-6FE3-ED49-CF975C34A5CF}"/>
                </a:ext>
              </a:extLst>
            </p:cNvPr>
            <p:cNvGrpSpPr/>
            <p:nvPr/>
          </p:nvGrpSpPr>
          <p:grpSpPr>
            <a:xfrm>
              <a:off x="1095519" y="2563843"/>
              <a:ext cx="1894679" cy="454364"/>
              <a:chOff x="1095519" y="2563843"/>
              <a:chExt cx="1894679" cy="45436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F365B-4ACB-F45C-0533-7BD4DF1A7C16}"/>
                  </a:ext>
                </a:extLst>
              </p:cNvPr>
              <p:cNvSpPr txBox="1"/>
              <p:nvPr/>
            </p:nvSpPr>
            <p:spPr>
              <a:xfrm>
                <a:off x="1939910" y="2613059"/>
                <a:ext cx="105028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&lt;u</a:t>
                </a:r>
                <a:r>
                  <a:rPr lang="en-US" sz="1050" baseline="-25000" dirty="0"/>
                  <a:t>1</a:t>
                </a:r>
                <a:r>
                  <a:rPr lang="en-US" sz="1050" dirty="0"/>
                  <a:t>,u</a:t>
                </a:r>
                <a:r>
                  <a:rPr lang="en-US" sz="1050" baseline="-25000" dirty="0"/>
                  <a:t>2</a:t>
                </a:r>
                <a:r>
                  <a:rPr lang="en-US" sz="1050" dirty="0"/>
                  <a:t>, ..., </a:t>
                </a:r>
                <a:r>
                  <a:rPr lang="en-US" sz="1050" dirty="0" err="1"/>
                  <a:t>u</a:t>
                </a:r>
                <a:r>
                  <a:rPr lang="en-US" sz="1050" baseline="-25000" dirty="0" err="1"/>
                  <a:t>l</a:t>
                </a:r>
                <a:r>
                  <a:rPr lang="en-US" sz="1050" dirty="0"/>
                  <a:t>&gt;</a:t>
                </a:r>
              </a:p>
            </p:txBody>
          </p:sp>
          <p:sp>
            <p:nvSpPr>
              <p:cNvPr id="33" name="Right Brace 32">
                <a:extLst>
                  <a:ext uri="{FF2B5EF4-FFF2-40B4-BE49-F238E27FC236}">
                    <a16:creationId xmlns:a16="http://schemas.microsoft.com/office/drawing/2014/main" id="{B888A394-764A-2D93-ADF7-47DF2B767359}"/>
                  </a:ext>
                </a:extLst>
              </p:cNvPr>
              <p:cNvSpPr/>
              <p:nvPr/>
            </p:nvSpPr>
            <p:spPr bwMode="auto">
              <a:xfrm rot="10800000">
                <a:off x="1848400" y="2563843"/>
                <a:ext cx="191408" cy="399298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52F1F2-51E5-846B-0D98-780451AD5B1A}"/>
                  </a:ext>
                </a:extLst>
              </p:cNvPr>
              <p:cNvSpPr txBox="1"/>
              <p:nvPr/>
            </p:nvSpPr>
            <p:spPr>
              <a:xfrm>
                <a:off x="1095519" y="2587320"/>
                <a:ext cx="80840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i="1" dirty="0"/>
                  <a:t>value vectors</a:t>
                </a: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CDE5D281-ACE5-7E7F-6902-1E93F50B8CEC}"/>
              </a:ext>
            </a:extLst>
          </p:cNvPr>
          <p:cNvGrpSpPr/>
          <p:nvPr/>
        </p:nvGrpSpPr>
        <p:grpSpPr>
          <a:xfrm>
            <a:off x="609600" y="1447800"/>
            <a:ext cx="1931852" cy="848144"/>
            <a:chOff x="609600" y="1688715"/>
            <a:chExt cx="1931852" cy="84814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9CAF7E7-4917-7AA7-301B-5B2B3144AF72}"/>
                </a:ext>
              </a:extLst>
            </p:cNvPr>
            <p:cNvSpPr/>
            <p:nvPr/>
          </p:nvSpPr>
          <p:spPr bwMode="auto">
            <a:xfrm>
              <a:off x="636253" y="1688715"/>
              <a:ext cx="1209334" cy="8481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026" name="Picture 2" descr="Download Abacus Cog Graphic - Gear Icon Gif - Full Size PNG Image - PNGkit">
              <a:extLst>
                <a:ext uri="{FF2B5EF4-FFF2-40B4-BE49-F238E27FC236}">
                  <a16:creationId xmlns:a16="http://schemas.microsoft.com/office/drawing/2014/main" id="{15F4F694-218D-34AF-83A5-E79342BD3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5998" y="2150380"/>
              <a:ext cx="396889" cy="235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8DCB15-9125-5472-D801-0E835EC46698}"/>
                </a:ext>
              </a:extLst>
            </p:cNvPr>
            <p:cNvSpPr txBox="1"/>
            <p:nvPr/>
          </p:nvSpPr>
          <p:spPr>
            <a:xfrm>
              <a:off x="609600" y="1688715"/>
              <a:ext cx="10553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Randomizing</a:t>
              </a:r>
            </a:p>
            <a:p>
              <a:pPr algn="ctr"/>
              <a:r>
                <a:rPr lang="en-US" sz="1200" dirty="0"/>
                <a:t>Service</a:t>
              </a:r>
            </a:p>
          </p:txBody>
        </p:sp>
        <p:sp>
          <p:nvSpPr>
            <p:cNvPr id="45" name="Bent Arrow 44">
              <a:extLst>
                <a:ext uri="{FF2B5EF4-FFF2-40B4-BE49-F238E27FC236}">
                  <a16:creationId xmlns:a16="http://schemas.microsoft.com/office/drawing/2014/main" id="{279C9CF0-8239-4484-16E7-8A35AD26AD82}"/>
                </a:ext>
              </a:extLst>
            </p:cNvPr>
            <p:cNvSpPr/>
            <p:nvPr/>
          </p:nvSpPr>
          <p:spPr bwMode="auto">
            <a:xfrm rot="5400000">
              <a:off x="1969853" y="1960662"/>
              <a:ext cx="495300" cy="647898"/>
            </a:xfrm>
            <a:prstGeom prst="bentArrow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</p:grp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5C1D021-30A2-ED4F-5B86-81C998CDF061}"/>
              </a:ext>
            </a:extLst>
          </p:cNvPr>
          <p:cNvSpPr/>
          <p:nvPr/>
        </p:nvSpPr>
        <p:spPr bwMode="auto">
          <a:xfrm rot="5400000">
            <a:off x="8332454" y="3477044"/>
            <a:ext cx="228600" cy="106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0F6CC-1A7A-B68A-A38B-4F84554A2D5B}"/>
              </a:ext>
            </a:extLst>
          </p:cNvPr>
          <p:cNvSpPr txBox="1"/>
          <p:nvPr/>
        </p:nvSpPr>
        <p:spPr>
          <a:xfrm>
            <a:off x="7984887" y="4150061"/>
            <a:ext cx="943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Finalization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6CCDC3-CC4D-F060-D1FB-8EA1EC701711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>
            <a:off x="902954" y="3794376"/>
            <a:ext cx="1628733" cy="382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21CE06-C765-21EB-A8C4-CAF8530BBB6F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707" y="3787941"/>
            <a:ext cx="4119047" cy="2146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D715C55-D0CF-5218-585D-67117ED0AB55}"/>
              </a:ext>
            </a:extLst>
          </p:cNvPr>
          <p:cNvGrpSpPr/>
          <p:nvPr/>
        </p:nvGrpSpPr>
        <p:grpSpPr>
          <a:xfrm>
            <a:off x="3932338" y="3210344"/>
            <a:ext cx="1885516" cy="496278"/>
            <a:chOff x="3932338" y="3451259"/>
            <a:chExt cx="1885516" cy="49627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C1A91BE-9F70-0F5C-F987-A9C98C2DCADE}"/>
                </a:ext>
              </a:extLst>
            </p:cNvPr>
            <p:cNvSpPr/>
            <p:nvPr/>
          </p:nvSpPr>
          <p:spPr bwMode="auto">
            <a:xfrm>
              <a:off x="39509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7E03117-D632-38B0-C967-9CD3B61ACB82}"/>
                </a:ext>
              </a:extLst>
            </p:cNvPr>
            <p:cNvSpPr/>
            <p:nvPr/>
          </p:nvSpPr>
          <p:spPr bwMode="auto">
            <a:xfrm>
              <a:off x="44462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3C9DE10-10D6-86B7-4FBB-DD8D087343DF}"/>
                </a:ext>
              </a:extLst>
            </p:cNvPr>
            <p:cNvSpPr/>
            <p:nvPr/>
          </p:nvSpPr>
          <p:spPr bwMode="auto">
            <a:xfrm>
              <a:off x="49415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745E1DC-C5F8-A455-43B9-B68EC7819101}"/>
                </a:ext>
              </a:extLst>
            </p:cNvPr>
            <p:cNvSpPr/>
            <p:nvPr/>
          </p:nvSpPr>
          <p:spPr bwMode="auto">
            <a:xfrm>
              <a:off x="54368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7D1799C-8C95-DEFB-A470-E9FA3C86B06E}"/>
                </a:ext>
              </a:extLst>
            </p:cNvPr>
            <p:cNvGrpSpPr/>
            <p:nvPr/>
          </p:nvGrpSpPr>
          <p:grpSpPr>
            <a:xfrm>
              <a:off x="5398754" y="3451259"/>
              <a:ext cx="399616" cy="224872"/>
              <a:chOff x="6839384" y="2932597"/>
              <a:chExt cx="399616" cy="224872"/>
            </a:xfrm>
          </p:grpSpPr>
          <p:sp>
            <p:nvSpPr>
              <p:cNvPr id="133" name="Right Brace 132">
                <a:extLst>
                  <a:ext uri="{FF2B5EF4-FFF2-40B4-BE49-F238E27FC236}">
                    <a16:creationId xmlns:a16="http://schemas.microsoft.com/office/drawing/2014/main" id="{8A6CDEB3-C71C-F64D-71C1-FF468C9C1664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AAE8953C-64C0-C6A4-09E7-E0FD4047C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E2C4D33-D25A-B2A6-EE94-941417CE57A5}"/>
                </a:ext>
              </a:extLst>
            </p:cNvPr>
            <p:cNvGrpSpPr/>
            <p:nvPr/>
          </p:nvGrpSpPr>
          <p:grpSpPr>
            <a:xfrm>
              <a:off x="4941554" y="3454987"/>
              <a:ext cx="399616" cy="224872"/>
              <a:chOff x="6839384" y="2932597"/>
              <a:chExt cx="399616" cy="224872"/>
            </a:xfrm>
          </p:grpSpPr>
          <p:sp>
            <p:nvSpPr>
              <p:cNvPr id="136" name="Right Brace 135">
                <a:extLst>
                  <a:ext uri="{FF2B5EF4-FFF2-40B4-BE49-F238E27FC236}">
                    <a16:creationId xmlns:a16="http://schemas.microsoft.com/office/drawing/2014/main" id="{9B4BF4F7-090A-2BA0-54BC-9A1E13447C9F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51EC9125-6077-CEA2-4665-A36DA08CB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F90D8CA9-F74B-2DEC-DF70-BBB32CE41D02}"/>
                </a:ext>
              </a:extLst>
            </p:cNvPr>
            <p:cNvGrpSpPr/>
            <p:nvPr/>
          </p:nvGrpSpPr>
          <p:grpSpPr>
            <a:xfrm>
              <a:off x="4408154" y="3454987"/>
              <a:ext cx="399616" cy="224872"/>
              <a:chOff x="6839384" y="2932597"/>
              <a:chExt cx="399616" cy="224872"/>
            </a:xfrm>
          </p:grpSpPr>
          <p:sp>
            <p:nvSpPr>
              <p:cNvPr id="139" name="Right Brace 138">
                <a:extLst>
                  <a:ext uri="{FF2B5EF4-FFF2-40B4-BE49-F238E27FC236}">
                    <a16:creationId xmlns:a16="http://schemas.microsoft.com/office/drawing/2014/main" id="{0D4494BA-9C5D-8200-3134-767BEC31F7A8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0" name="Picture 139">
                <a:extLst>
                  <a:ext uri="{FF2B5EF4-FFF2-40B4-BE49-F238E27FC236}">
                    <a16:creationId xmlns:a16="http://schemas.microsoft.com/office/drawing/2014/main" id="{71A18BA6-A8DE-6D7A-7DD3-D91B35E16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C575E83-C57B-5A6C-86C4-B4515BF371E4}"/>
                </a:ext>
              </a:extLst>
            </p:cNvPr>
            <p:cNvGrpSpPr/>
            <p:nvPr/>
          </p:nvGrpSpPr>
          <p:grpSpPr>
            <a:xfrm>
              <a:off x="3932338" y="3454987"/>
              <a:ext cx="399616" cy="224872"/>
              <a:chOff x="6839384" y="2932597"/>
              <a:chExt cx="399616" cy="224872"/>
            </a:xfrm>
          </p:grpSpPr>
          <p:sp>
            <p:nvSpPr>
              <p:cNvPr id="142" name="Right Brace 141">
                <a:extLst>
                  <a:ext uri="{FF2B5EF4-FFF2-40B4-BE49-F238E27FC236}">
                    <a16:creationId xmlns:a16="http://schemas.microsoft.com/office/drawing/2014/main" id="{A91C348E-6DA4-90F6-2070-A7CCEA23C0FE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332CC011-0799-870D-21DE-BFE55DB1C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394ADB-5308-1995-6BEC-5E7A81B318C7}"/>
              </a:ext>
            </a:extLst>
          </p:cNvPr>
          <p:cNvGrpSpPr/>
          <p:nvPr/>
        </p:nvGrpSpPr>
        <p:grpSpPr>
          <a:xfrm>
            <a:off x="3417554" y="3210344"/>
            <a:ext cx="419100" cy="496278"/>
            <a:chOff x="3417554" y="3451259"/>
            <a:chExt cx="419100" cy="49627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F5A78EE-D5B2-C864-6895-6CC4586467F6}"/>
                </a:ext>
              </a:extLst>
            </p:cNvPr>
            <p:cNvSpPr/>
            <p:nvPr/>
          </p:nvSpPr>
          <p:spPr bwMode="auto">
            <a:xfrm>
              <a:off x="34556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1DCD828B-A4D4-37A1-051B-A70BCE6E6EA2}"/>
                </a:ext>
              </a:extLst>
            </p:cNvPr>
            <p:cNvGrpSpPr/>
            <p:nvPr/>
          </p:nvGrpSpPr>
          <p:grpSpPr>
            <a:xfrm>
              <a:off x="3417554" y="3451259"/>
              <a:ext cx="399616" cy="224872"/>
              <a:chOff x="6839384" y="2932597"/>
              <a:chExt cx="399616" cy="224872"/>
            </a:xfrm>
          </p:grpSpPr>
          <p:sp>
            <p:nvSpPr>
              <p:cNvPr id="145" name="Right Brace 144">
                <a:extLst>
                  <a:ext uri="{FF2B5EF4-FFF2-40B4-BE49-F238E27FC236}">
                    <a16:creationId xmlns:a16="http://schemas.microsoft.com/office/drawing/2014/main" id="{20348C2B-F3FE-4048-E2CB-D7A96F281007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6" name="Picture 145">
                <a:extLst>
                  <a:ext uri="{FF2B5EF4-FFF2-40B4-BE49-F238E27FC236}">
                    <a16:creationId xmlns:a16="http://schemas.microsoft.com/office/drawing/2014/main" id="{CD3DF4B8-567C-245A-B4E1-3AEFDC783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424D7D-CC1C-1CA3-F6E8-C0213AC94D31}"/>
              </a:ext>
            </a:extLst>
          </p:cNvPr>
          <p:cNvGrpSpPr/>
          <p:nvPr/>
        </p:nvGrpSpPr>
        <p:grpSpPr>
          <a:xfrm>
            <a:off x="2941738" y="3214072"/>
            <a:ext cx="399616" cy="492550"/>
            <a:chOff x="2941738" y="3454987"/>
            <a:chExt cx="399616" cy="49255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C2454E-77B4-1795-C7CC-85B9EE335CE4}"/>
                </a:ext>
              </a:extLst>
            </p:cNvPr>
            <p:cNvSpPr/>
            <p:nvPr/>
          </p:nvSpPr>
          <p:spPr bwMode="auto">
            <a:xfrm>
              <a:off x="29603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C6DAB6AE-EA87-CF76-465F-761A0129DD82}"/>
                </a:ext>
              </a:extLst>
            </p:cNvPr>
            <p:cNvGrpSpPr/>
            <p:nvPr/>
          </p:nvGrpSpPr>
          <p:grpSpPr>
            <a:xfrm>
              <a:off x="2941738" y="3454987"/>
              <a:ext cx="399616" cy="224872"/>
              <a:chOff x="6839384" y="2932597"/>
              <a:chExt cx="399616" cy="224872"/>
            </a:xfrm>
          </p:grpSpPr>
          <p:sp>
            <p:nvSpPr>
              <p:cNvPr id="148" name="Right Brace 147">
                <a:extLst>
                  <a:ext uri="{FF2B5EF4-FFF2-40B4-BE49-F238E27FC236}">
                    <a16:creationId xmlns:a16="http://schemas.microsoft.com/office/drawing/2014/main" id="{BA9416DD-CD99-8656-F1EC-CDD2711C7C14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31BEE119-6A84-15D7-B65D-A530FD232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02E75E9-DB11-9029-D4BF-E5F99CBDF0C1}"/>
              </a:ext>
            </a:extLst>
          </p:cNvPr>
          <p:cNvGrpSpPr/>
          <p:nvPr/>
        </p:nvGrpSpPr>
        <p:grpSpPr>
          <a:xfrm>
            <a:off x="2465054" y="3210344"/>
            <a:ext cx="419100" cy="496278"/>
            <a:chOff x="2465054" y="3451259"/>
            <a:chExt cx="419100" cy="49627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F54D81-EDCF-A848-E5F4-8A1534DB9AD0}"/>
                </a:ext>
              </a:extLst>
            </p:cNvPr>
            <p:cNvSpPr/>
            <p:nvPr/>
          </p:nvSpPr>
          <p:spPr bwMode="auto">
            <a:xfrm>
              <a:off x="24650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80A38B2C-B819-8783-4C69-B6F624A094BD}"/>
                </a:ext>
              </a:extLst>
            </p:cNvPr>
            <p:cNvGrpSpPr/>
            <p:nvPr/>
          </p:nvGrpSpPr>
          <p:grpSpPr>
            <a:xfrm>
              <a:off x="2484538" y="3451259"/>
              <a:ext cx="399616" cy="224872"/>
              <a:chOff x="6839384" y="2932597"/>
              <a:chExt cx="399616" cy="224872"/>
            </a:xfrm>
          </p:grpSpPr>
          <p:sp>
            <p:nvSpPr>
              <p:cNvPr id="151" name="Right Brace 150">
                <a:extLst>
                  <a:ext uri="{FF2B5EF4-FFF2-40B4-BE49-F238E27FC236}">
                    <a16:creationId xmlns:a16="http://schemas.microsoft.com/office/drawing/2014/main" id="{753ED877-B9A1-1F9E-18A5-39EA74D549EB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52" name="Picture 151">
                <a:extLst>
                  <a:ext uri="{FF2B5EF4-FFF2-40B4-BE49-F238E27FC236}">
                    <a16:creationId xmlns:a16="http://schemas.microsoft.com/office/drawing/2014/main" id="{89FD0FA7-1F93-7FA0-D701-3FC4D5A79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F66E9A-DC2F-4FDB-0165-1EB32CFA4EB9}"/>
              </a:ext>
            </a:extLst>
          </p:cNvPr>
          <p:cNvGrpSpPr/>
          <p:nvPr/>
        </p:nvGrpSpPr>
        <p:grpSpPr>
          <a:xfrm>
            <a:off x="1951138" y="3214072"/>
            <a:ext cx="399616" cy="492550"/>
            <a:chOff x="1951138" y="3454987"/>
            <a:chExt cx="399616" cy="4925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990225-471C-BBAE-991E-01CA73F55564}"/>
                </a:ext>
              </a:extLst>
            </p:cNvPr>
            <p:cNvSpPr/>
            <p:nvPr/>
          </p:nvSpPr>
          <p:spPr bwMode="auto">
            <a:xfrm>
              <a:off x="19697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BE4A4B95-D1A1-2182-81BA-1D4620A93759}"/>
                </a:ext>
              </a:extLst>
            </p:cNvPr>
            <p:cNvGrpSpPr/>
            <p:nvPr/>
          </p:nvGrpSpPr>
          <p:grpSpPr>
            <a:xfrm>
              <a:off x="1951138" y="3454987"/>
              <a:ext cx="399616" cy="224872"/>
              <a:chOff x="6839384" y="2932597"/>
              <a:chExt cx="399616" cy="224872"/>
            </a:xfrm>
          </p:grpSpPr>
          <p:sp>
            <p:nvSpPr>
              <p:cNvPr id="154" name="Right Brace 153">
                <a:extLst>
                  <a:ext uri="{FF2B5EF4-FFF2-40B4-BE49-F238E27FC236}">
                    <a16:creationId xmlns:a16="http://schemas.microsoft.com/office/drawing/2014/main" id="{12FABF6B-3819-8D23-32F9-1A3BAD0C650E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55" name="Picture 154">
                <a:extLst>
                  <a:ext uri="{FF2B5EF4-FFF2-40B4-BE49-F238E27FC236}">
                    <a16:creationId xmlns:a16="http://schemas.microsoft.com/office/drawing/2014/main" id="{17F156FD-D541-8818-F9B0-FF2B6551F9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7E876D9-A872-6625-E2EE-EBF18CCE5516}"/>
              </a:ext>
            </a:extLst>
          </p:cNvPr>
          <p:cNvGrpSpPr/>
          <p:nvPr/>
        </p:nvGrpSpPr>
        <p:grpSpPr>
          <a:xfrm>
            <a:off x="5913538" y="3210344"/>
            <a:ext cx="3066616" cy="527161"/>
            <a:chOff x="5913538" y="3451259"/>
            <a:chExt cx="3066616" cy="5271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5B23847-C4AB-E73F-D3D0-B88D94FA8619}"/>
                </a:ext>
              </a:extLst>
            </p:cNvPr>
            <p:cNvSpPr/>
            <p:nvPr/>
          </p:nvSpPr>
          <p:spPr bwMode="auto">
            <a:xfrm>
              <a:off x="59321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05424C7-3A8F-6064-173B-D41C18F84651}"/>
                </a:ext>
              </a:extLst>
            </p:cNvPr>
            <p:cNvSpPr/>
            <p:nvPr/>
          </p:nvSpPr>
          <p:spPr bwMode="auto">
            <a:xfrm>
              <a:off x="64274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0AE0B1F-2BFB-E7F3-3679-B334229EB001}"/>
                </a:ext>
              </a:extLst>
            </p:cNvPr>
            <p:cNvSpPr/>
            <p:nvPr/>
          </p:nvSpPr>
          <p:spPr bwMode="auto">
            <a:xfrm>
              <a:off x="6922754" y="3718937"/>
              <a:ext cx="3810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3849361-461E-5B0C-19AE-CE0C0A3B0C6C}"/>
                </a:ext>
              </a:extLst>
            </p:cNvPr>
            <p:cNvSpPr/>
            <p:nvPr/>
          </p:nvSpPr>
          <p:spPr bwMode="auto">
            <a:xfrm>
              <a:off x="7913354" y="3718937"/>
              <a:ext cx="1066800" cy="2286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84D895-04D1-3D74-5B14-9EBCABEEE368}"/>
                </a:ext>
              </a:extLst>
            </p:cNvPr>
            <p:cNvSpPr txBox="1"/>
            <p:nvPr/>
          </p:nvSpPr>
          <p:spPr>
            <a:xfrm>
              <a:off x="7370844" y="3516755"/>
              <a:ext cx="4635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79411CA-7802-5730-63D9-9C4BAAB3EDC4}"/>
                </a:ext>
              </a:extLst>
            </p:cNvPr>
            <p:cNvGrpSpPr/>
            <p:nvPr/>
          </p:nvGrpSpPr>
          <p:grpSpPr>
            <a:xfrm>
              <a:off x="6904138" y="3454987"/>
              <a:ext cx="399616" cy="224872"/>
              <a:chOff x="6839384" y="2932597"/>
              <a:chExt cx="399616" cy="224872"/>
            </a:xfrm>
          </p:grpSpPr>
          <p:sp>
            <p:nvSpPr>
              <p:cNvPr id="58" name="Right Brace 57">
                <a:extLst>
                  <a:ext uri="{FF2B5EF4-FFF2-40B4-BE49-F238E27FC236}">
                    <a16:creationId xmlns:a16="http://schemas.microsoft.com/office/drawing/2014/main" id="{9DB68DDB-7B49-025B-5117-62385C5E4FA7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2AC6E3D4-6AC9-CE7F-F739-0486B16867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FCBBD49-3550-C38B-E183-3953EC04EA88}"/>
                </a:ext>
              </a:extLst>
            </p:cNvPr>
            <p:cNvGrpSpPr/>
            <p:nvPr/>
          </p:nvGrpSpPr>
          <p:grpSpPr>
            <a:xfrm>
              <a:off x="6389354" y="3454987"/>
              <a:ext cx="399616" cy="224872"/>
              <a:chOff x="6839384" y="2932597"/>
              <a:chExt cx="399616" cy="224872"/>
            </a:xfrm>
          </p:grpSpPr>
          <p:sp>
            <p:nvSpPr>
              <p:cNvPr id="63" name="Right Brace 62">
                <a:extLst>
                  <a:ext uri="{FF2B5EF4-FFF2-40B4-BE49-F238E27FC236}">
                    <a16:creationId xmlns:a16="http://schemas.microsoft.com/office/drawing/2014/main" id="{FA0997FF-72C7-1627-7353-1D8BCD6403F9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66146E2A-C40D-0479-38C6-BBEACF1DD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4C371210-C2D0-16D3-D0B1-B0436E5D4FA9}"/>
                </a:ext>
              </a:extLst>
            </p:cNvPr>
            <p:cNvGrpSpPr/>
            <p:nvPr/>
          </p:nvGrpSpPr>
          <p:grpSpPr>
            <a:xfrm>
              <a:off x="5913538" y="3451259"/>
              <a:ext cx="399616" cy="224872"/>
              <a:chOff x="6839384" y="2932597"/>
              <a:chExt cx="399616" cy="224872"/>
            </a:xfrm>
          </p:grpSpPr>
          <p:sp>
            <p:nvSpPr>
              <p:cNvPr id="130" name="Right Brace 129">
                <a:extLst>
                  <a:ext uri="{FF2B5EF4-FFF2-40B4-BE49-F238E27FC236}">
                    <a16:creationId xmlns:a16="http://schemas.microsoft.com/office/drawing/2014/main" id="{6821E4EA-45B9-2521-C3F0-0214CF961B92}"/>
                  </a:ext>
                </a:extLst>
              </p:cNvPr>
              <p:cNvSpPr/>
              <p:nvPr/>
            </p:nvSpPr>
            <p:spPr bwMode="auto">
              <a:xfrm rot="16200000">
                <a:off x="6989600" y="2908434"/>
                <a:ext cx="111050" cy="387019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08D54FD3-74D8-D415-D50C-841EACF2FD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39384" y="2932597"/>
                <a:ext cx="399616" cy="799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A23D4CA-4CBF-02F2-04D2-819F54DC5ECB}"/>
              </a:ext>
            </a:extLst>
          </p:cNvPr>
          <p:cNvGrpSpPr/>
          <p:nvPr/>
        </p:nvGrpSpPr>
        <p:grpSpPr>
          <a:xfrm>
            <a:off x="7049665" y="2270222"/>
            <a:ext cx="1352597" cy="838706"/>
            <a:chOff x="7049665" y="2511137"/>
            <a:chExt cx="1352597" cy="83870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B3A50F3-8BD8-EFDF-54A4-FF1819D2CD7D}"/>
                </a:ext>
              </a:extLst>
            </p:cNvPr>
            <p:cNvSpPr txBox="1"/>
            <p:nvPr/>
          </p:nvSpPr>
          <p:spPr>
            <a:xfrm>
              <a:off x="7188255" y="2511137"/>
              <a:ext cx="12140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Integrated contract </a:t>
              </a:r>
            </a:p>
            <a:p>
              <a:pPr algn="ctr"/>
              <a:r>
                <a:rPr lang="en-US" sz="1600" i="1" dirty="0"/>
                <a:t>checking</a:t>
              </a: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093F219-83B6-621D-C966-6A1B73DBEA9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049665" y="3151178"/>
              <a:ext cx="253722" cy="19866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EF9B365F-1C0C-52C7-D609-BF616E7E2CAD}"/>
              </a:ext>
            </a:extLst>
          </p:cNvPr>
          <p:cNvGrpSpPr/>
          <p:nvPr/>
        </p:nvGrpSpPr>
        <p:grpSpPr>
          <a:xfrm>
            <a:off x="308907" y="4899200"/>
            <a:ext cx="4230921" cy="1398667"/>
            <a:chOff x="308907" y="4899200"/>
            <a:chExt cx="4230921" cy="1398667"/>
          </a:xfrm>
        </p:grpSpPr>
        <p:pic>
          <p:nvPicPr>
            <p:cNvPr id="1032" name="Picture 1031">
              <a:extLst>
                <a:ext uri="{FF2B5EF4-FFF2-40B4-BE49-F238E27FC236}">
                  <a16:creationId xmlns:a16="http://schemas.microsoft.com/office/drawing/2014/main" id="{2689F6AF-1ECB-0735-F6A4-01CD0244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0879" y="4899200"/>
              <a:ext cx="3158949" cy="1334767"/>
            </a:xfrm>
            <a:prstGeom prst="rect">
              <a:avLst/>
            </a:prstGeom>
          </p:spPr>
        </p:pic>
        <p:sp>
          <p:nvSpPr>
            <p:cNvPr id="1025" name="Text Box 43">
              <a:extLst>
                <a:ext uri="{FF2B5EF4-FFF2-40B4-BE49-F238E27FC236}">
                  <a16:creationId xmlns:a16="http://schemas.microsoft.com/office/drawing/2014/main" id="{7A286016-6537-95FA-DC0A-186A51E4C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07" y="5559203"/>
              <a:ext cx="1878862" cy="7386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Auto-generated Distribution of Tests on Servers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80C0F0EF-193E-B4F6-84A6-DEB2D28829C9}"/>
              </a:ext>
            </a:extLst>
          </p:cNvPr>
          <p:cNvGrpSpPr/>
          <p:nvPr/>
        </p:nvGrpSpPr>
        <p:grpSpPr>
          <a:xfrm>
            <a:off x="5410985" y="4757809"/>
            <a:ext cx="3571823" cy="1992119"/>
            <a:chOff x="5410985" y="4757809"/>
            <a:chExt cx="3571823" cy="1992119"/>
          </a:xfrm>
        </p:grpSpPr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CC134FAC-D924-3DE4-1A7C-03BBEDD19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0985" y="4757809"/>
              <a:ext cx="2894931" cy="1992119"/>
            </a:xfrm>
            <a:prstGeom prst="rect">
              <a:avLst/>
            </a:prstGeom>
          </p:spPr>
        </p:pic>
        <p:sp>
          <p:nvSpPr>
            <p:cNvPr id="1033" name="Text Box 43">
              <a:extLst>
                <a:ext uri="{FF2B5EF4-FFF2-40B4-BE49-F238E27FC236}">
                  <a16:creationId xmlns:a16="http://schemas.microsoft.com/office/drawing/2014/main" id="{C91137A2-531B-405B-0061-47DADA88C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3946" y="5745404"/>
              <a:ext cx="1878862" cy="95410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Auto-generated Hyper-linked Test Reports and Assurance Evidence</a:t>
              </a:r>
            </a:p>
          </p:txBody>
        </p:sp>
      </p:grp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8249A670-63FA-7FF6-AEC0-1E2983903B0C}"/>
              </a:ext>
            </a:extLst>
          </p:cNvPr>
          <p:cNvSpPr/>
          <p:nvPr/>
        </p:nvSpPr>
        <p:spPr bwMode="auto">
          <a:xfrm>
            <a:off x="3340986" y="1718796"/>
            <a:ext cx="2286368" cy="415338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7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00FA-93C3-21AE-45BA-319617E5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System Property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8EB86-4FC7-65AE-6EFE-3A40B9200C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22399C2-1ADD-1549-9753-CEA7C1EED1B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C706FC0-EDBE-7DFB-0A50-B9E0CB216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81352"/>
            <a:ext cx="7836788" cy="707886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Typical embedded system properties require not only identifying state constraints but placing these in time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38FD34C-A290-45DD-6E93-BE39303776CA}"/>
              </a:ext>
            </a:extLst>
          </p:cNvPr>
          <p:cNvGrpSpPr/>
          <p:nvPr/>
        </p:nvGrpSpPr>
        <p:grpSpPr>
          <a:xfrm>
            <a:off x="1556400" y="2286000"/>
            <a:ext cx="6895322" cy="1824336"/>
            <a:chOff x="1556400" y="2286000"/>
            <a:chExt cx="6895322" cy="182433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18AD4F-2D81-A2D3-40EF-5500AFAC0602}"/>
                </a:ext>
              </a:extLst>
            </p:cNvPr>
            <p:cNvSpPr txBox="1"/>
            <p:nvPr/>
          </p:nvSpPr>
          <p:spPr>
            <a:xfrm>
              <a:off x="1556400" y="2286000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If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DB57D5-D401-E441-B078-018D3F9B513A}"/>
                </a:ext>
              </a:extLst>
            </p:cNvPr>
            <p:cNvSpPr txBox="1"/>
            <p:nvPr/>
          </p:nvSpPr>
          <p:spPr>
            <a:xfrm>
              <a:off x="1861200" y="3125317"/>
              <a:ext cx="63217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Regulate Subsystem is in NORMAL mode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190EF41-965F-ABEC-31D4-D50507A061F1}"/>
                </a:ext>
              </a:extLst>
            </p:cNvPr>
            <p:cNvSpPr txBox="1"/>
            <p:nvPr/>
          </p:nvSpPr>
          <p:spPr>
            <a:xfrm>
              <a:off x="1845960" y="2620234"/>
              <a:ext cx="5690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There are no failure conditions on inputs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8FD3CA-1FE3-FD66-B916-2CCBFBA65ACD}"/>
                </a:ext>
              </a:extLst>
            </p:cNvPr>
            <p:cNvSpPr txBox="1"/>
            <p:nvPr/>
          </p:nvSpPr>
          <p:spPr>
            <a:xfrm>
              <a:off x="1861200" y="3648671"/>
              <a:ext cx="65905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current temp is greater than high set point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6AF17F-CE81-F3A8-F653-A883D25E7994}"/>
              </a:ext>
            </a:extLst>
          </p:cNvPr>
          <p:cNvGrpSpPr/>
          <p:nvPr/>
        </p:nvGrpSpPr>
        <p:grpSpPr>
          <a:xfrm>
            <a:off x="1561135" y="4887964"/>
            <a:ext cx="6783881" cy="897101"/>
            <a:chOff x="1561135" y="4887964"/>
            <a:chExt cx="6783881" cy="89710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3A8ABF-C9BD-D942-9BDE-E8465C5A171A}"/>
                </a:ext>
              </a:extLst>
            </p:cNvPr>
            <p:cNvSpPr txBox="1"/>
            <p:nvPr/>
          </p:nvSpPr>
          <p:spPr>
            <a:xfrm>
              <a:off x="1561135" y="4887964"/>
              <a:ext cx="9509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Then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68C1EE-0DE0-3EBD-5C17-400B3CF47B71}"/>
                </a:ext>
              </a:extLst>
            </p:cNvPr>
            <p:cNvSpPr txBox="1"/>
            <p:nvPr/>
          </p:nvSpPr>
          <p:spPr>
            <a:xfrm>
              <a:off x="1865935" y="5323400"/>
              <a:ext cx="64790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heat control command shall be set to OFF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00B75EB-9711-682E-F20E-BE9C7133E524}"/>
              </a:ext>
            </a:extLst>
          </p:cNvPr>
          <p:cNvSpPr/>
          <p:nvPr/>
        </p:nvSpPr>
        <p:spPr bwMode="auto">
          <a:xfrm>
            <a:off x="2512036" y="5375862"/>
            <a:ext cx="5717564" cy="41533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FF9652-3DD8-4B6F-4F9A-10D55A405677}"/>
              </a:ext>
            </a:extLst>
          </p:cNvPr>
          <p:cNvGrpSpPr/>
          <p:nvPr/>
        </p:nvGrpSpPr>
        <p:grpSpPr>
          <a:xfrm>
            <a:off x="2507300" y="1576704"/>
            <a:ext cx="6408100" cy="2560427"/>
            <a:chOff x="2507300" y="1576704"/>
            <a:chExt cx="6408100" cy="256042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D8449F-4A70-69D8-5020-DD366247D887}"/>
                </a:ext>
              </a:extLst>
            </p:cNvPr>
            <p:cNvSpPr/>
            <p:nvPr/>
          </p:nvSpPr>
          <p:spPr bwMode="auto">
            <a:xfrm>
              <a:off x="2507301" y="3152668"/>
              <a:ext cx="5675694" cy="41533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79CC07-18C1-E1B7-36EE-0FCA226C8701}"/>
                </a:ext>
              </a:extLst>
            </p:cNvPr>
            <p:cNvSpPr/>
            <p:nvPr/>
          </p:nvSpPr>
          <p:spPr bwMode="auto">
            <a:xfrm>
              <a:off x="3293760" y="2669355"/>
              <a:ext cx="4242284" cy="41533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380435-3A13-0640-1A48-CCC5144061E9}"/>
                </a:ext>
              </a:extLst>
            </p:cNvPr>
            <p:cNvSpPr/>
            <p:nvPr/>
          </p:nvSpPr>
          <p:spPr bwMode="auto">
            <a:xfrm>
              <a:off x="2507300" y="3721793"/>
              <a:ext cx="6331899" cy="41533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20" name="Text Box 43">
              <a:extLst>
                <a:ext uri="{FF2B5EF4-FFF2-40B4-BE49-F238E27FC236}">
                  <a16:creationId xmlns:a16="http://schemas.microsoft.com/office/drawing/2014/main" id="{30F8C99C-D84C-2115-07D3-8E2238248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6331" y="1576704"/>
              <a:ext cx="1949069" cy="92333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800" b="1" i="1" dirty="0">
                  <a:latin typeface="Tahoma" pitchFamily="-84" charset="0"/>
                </a:rPr>
                <a:t>Observe</a:t>
              </a:r>
              <a:r>
                <a:rPr lang="en-US" sz="1800" b="1" dirty="0">
                  <a:latin typeface="Tahoma" pitchFamily="-84" charset="0"/>
                </a:rPr>
                <a:t> </a:t>
              </a:r>
              <a:r>
                <a:rPr lang="en-US" sz="1800" dirty="0">
                  <a:latin typeface="Tahoma" pitchFamily="-84" charset="0"/>
                </a:rPr>
                <a:t>system state at </a:t>
              </a:r>
              <a:r>
                <a:rPr lang="en-US" sz="1800" i="1" dirty="0">
                  <a:latin typeface="Tahoma" pitchFamily="-84" charset="0"/>
                </a:rPr>
                <a:t>component ports</a:t>
              </a:r>
            </a:p>
          </p:txBody>
        </p:sp>
        <p:sp>
          <p:nvSpPr>
            <p:cNvPr id="22" name="Line 44">
              <a:extLst>
                <a:ext uri="{FF2B5EF4-FFF2-40B4-BE49-F238E27FC236}">
                  <a16:creationId xmlns:a16="http://schemas.microsoft.com/office/drawing/2014/main" id="{EE507553-AA33-A19D-A279-EC82543CD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91910" y="2472715"/>
              <a:ext cx="524942" cy="6656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181B3E8-21AD-4FF9-0060-6C1196CA4481}"/>
              </a:ext>
            </a:extLst>
          </p:cNvPr>
          <p:cNvSpPr txBox="1"/>
          <p:nvPr/>
        </p:nvSpPr>
        <p:spPr>
          <a:xfrm>
            <a:off x="751423" y="6380643"/>
            <a:ext cx="793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accent1"/>
                </a:solidFill>
              </a:rPr>
              <a:t>…observations occur at different points in time (different points in schedule)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C313951-9FB9-252F-B738-78760DCC0BEC}"/>
              </a:ext>
            </a:extLst>
          </p:cNvPr>
          <p:cNvGrpSpPr/>
          <p:nvPr/>
        </p:nvGrpSpPr>
        <p:grpSpPr>
          <a:xfrm>
            <a:off x="6269603" y="4236998"/>
            <a:ext cx="2686315" cy="923330"/>
            <a:chOff x="6269603" y="4236998"/>
            <a:chExt cx="2686315" cy="923330"/>
          </a:xfrm>
        </p:grpSpPr>
        <p:sp>
          <p:nvSpPr>
            <p:cNvPr id="28" name="Bent Arrow 27">
              <a:extLst>
                <a:ext uri="{FF2B5EF4-FFF2-40B4-BE49-F238E27FC236}">
                  <a16:creationId xmlns:a16="http://schemas.microsoft.com/office/drawing/2014/main" id="{C9BA7221-3EEA-A8A6-22C6-F439F14B8F14}"/>
                </a:ext>
              </a:extLst>
            </p:cNvPr>
            <p:cNvSpPr/>
            <p:nvPr/>
          </p:nvSpPr>
          <p:spPr bwMode="auto">
            <a:xfrm rot="7955945">
              <a:off x="6381812" y="4352733"/>
              <a:ext cx="615119" cy="839538"/>
            </a:xfrm>
            <a:prstGeom prst="bentArrow">
              <a:avLst>
                <a:gd name="adj1" fmla="val 34299"/>
                <a:gd name="adj2" fmla="val 49459"/>
                <a:gd name="adj3" fmla="val 25000"/>
                <a:gd name="adj4" fmla="val 55878"/>
              </a:avLst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29" name="Text Box 43">
              <a:extLst>
                <a:ext uri="{FF2B5EF4-FFF2-40B4-BE49-F238E27FC236}">
                  <a16:creationId xmlns:a16="http://schemas.microsoft.com/office/drawing/2014/main" id="{81F5CD9A-421F-A4BF-44C3-F988B7787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5742" y="4236998"/>
              <a:ext cx="2030176" cy="92333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800" b="1" i="1" dirty="0">
                  <a:latin typeface="Tahoma" pitchFamily="-84" charset="0"/>
                </a:rPr>
                <a:t>Bound latencies </a:t>
              </a:r>
              <a:r>
                <a:rPr lang="en-US" sz="1800" i="1" dirty="0">
                  <a:latin typeface="Tahoma" pitchFamily="-84" charset="0"/>
                </a:rPr>
                <a:t>(not directly treated in paper)</a:t>
              </a:r>
              <a:endParaRPr lang="en-US" sz="1800" dirty="0">
                <a:latin typeface="Tahoma" pitchFamily="-8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CFB899E-EB4C-BA28-6E8E-184C7906F402}"/>
              </a:ext>
            </a:extLst>
          </p:cNvPr>
          <p:cNvGrpSpPr/>
          <p:nvPr/>
        </p:nvGrpSpPr>
        <p:grpSpPr>
          <a:xfrm>
            <a:off x="133818" y="2362200"/>
            <a:ext cx="1618782" cy="3208295"/>
            <a:chOff x="133818" y="2362200"/>
            <a:chExt cx="1618782" cy="3208295"/>
          </a:xfrm>
        </p:grpSpPr>
        <p:sp>
          <p:nvSpPr>
            <p:cNvPr id="24" name="Text Box 43">
              <a:extLst>
                <a:ext uri="{FF2B5EF4-FFF2-40B4-BE49-F238E27FC236}">
                  <a16:creationId xmlns:a16="http://schemas.microsoft.com/office/drawing/2014/main" id="{BA417267-2835-6BC8-2167-3D5997313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18" y="3054260"/>
              <a:ext cx="1618782" cy="175432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800" b="1" i="1" dirty="0">
                  <a:latin typeface="Tahoma" pitchFamily="-84" charset="0"/>
                </a:rPr>
                <a:t>Acquire</a:t>
              </a:r>
              <a:r>
                <a:rPr lang="en-US" sz="1800" dirty="0">
                  <a:latin typeface="Tahoma" pitchFamily="-84" charset="0"/>
                </a:rPr>
                <a:t> observations of system state at specific points in schedule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78D7F2A-7CAC-FC12-9AD3-F4BFAA746BEC}"/>
                </a:ext>
              </a:extLst>
            </p:cNvPr>
            <p:cNvGrpSpPr/>
            <p:nvPr/>
          </p:nvGrpSpPr>
          <p:grpSpPr>
            <a:xfrm>
              <a:off x="969275" y="2362200"/>
              <a:ext cx="144208" cy="415452"/>
              <a:chOff x="893075" y="2020066"/>
              <a:chExt cx="144208" cy="41545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A52A474-7B38-0E82-2EE8-FAB11673C657}"/>
                  </a:ext>
                </a:extLst>
              </p:cNvPr>
              <p:cNvSpPr/>
              <p:nvPr/>
            </p:nvSpPr>
            <p:spPr bwMode="auto">
              <a:xfrm rot="5400000" flipV="1">
                <a:off x="786247" y="2177029"/>
                <a:ext cx="359670" cy="45743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93D49AA-8B66-2820-C10E-39CB2C2788EC}"/>
                  </a:ext>
                </a:extLst>
              </p:cNvPr>
              <p:cNvSpPr/>
              <p:nvPr/>
            </p:nvSpPr>
            <p:spPr bwMode="auto">
              <a:xfrm>
                <a:off x="893075" y="2315646"/>
                <a:ext cx="144208" cy="119872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72F27D8-F99B-EC93-7040-987657D6817B}"/>
                </a:ext>
              </a:extLst>
            </p:cNvPr>
            <p:cNvSpPr/>
            <p:nvPr/>
          </p:nvSpPr>
          <p:spPr bwMode="auto">
            <a:xfrm rot="5400000" flipV="1">
              <a:off x="897664" y="2895848"/>
              <a:ext cx="289233" cy="4574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71271E2-8B4E-994C-DC1C-9309E7A9FB91}"/>
                </a:ext>
              </a:extLst>
            </p:cNvPr>
            <p:cNvGrpSpPr/>
            <p:nvPr/>
          </p:nvGrpSpPr>
          <p:grpSpPr>
            <a:xfrm>
              <a:off x="969274" y="4841639"/>
              <a:ext cx="144208" cy="728856"/>
              <a:chOff x="893075" y="1706662"/>
              <a:chExt cx="144208" cy="72885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B652C7A-4AB2-0136-DD05-10B32F439172}"/>
                  </a:ext>
                </a:extLst>
              </p:cNvPr>
              <p:cNvSpPr/>
              <p:nvPr/>
            </p:nvSpPr>
            <p:spPr bwMode="auto">
              <a:xfrm rot="5400000" flipV="1">
                <a:off x="629545" y="2020329"/>
                <a:ext cx="673075" cy="4574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2C3ADB0-37B9-2FD8-E90A-0636C20DC80F}"/>
                  </a:ext>
                </a:extLst>
              </p:cNvPr>
              <p:cNvSpPr/>
              <p:nvPr/>
            </p:nvSpPr>
            <p:spPr bwMode="auto">
              <a:xfrm>
                <a:off x="893075" y="2315646"/>
                <a:ext cx="144208" cy="119872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65A8989-2B13-540D-5279-07CCDF5AECB6}"/>
                </a:ext>
              </a:extLst>
            </p:cNvPr>
            <p:cNvSpPr/>
            <p:nvPr/>
          </p:nvSpPr>
          <p:spPr bwMode="auto">
            <a:xfrm>
              <a:off x="969485" y="5061728"/>
              <a:ext cx="144208" cy="11987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2133424-9655-3419-D91C-9715A7A28A85}"/>
              </a:ext>
            </a:extLst>
          </p:cNvPr>
          <p:cNvSpPr txBox="1"/>
          <p:nvPr/>
        </p:nvSpPr>
        <p:spPr>
          <a:xfrm>
            <a:off x="1971449" y="2208981"/>
            <a:ext cx="465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[</a:t>
            </a:r>
            <a:r>
              <a:rPr lang="en-US" sz="1800" b="1" dirty="0"/>
              <a:t>When</a:t>
            </a:r>
            <a:r>
              <a:rPr lang="en-US" sz="1800" dirty="0"/>
              <a:t> </a:t>
            </a:r>
            <a:r>
              <a:rPr lang="en-US" sz="1800" i="1" dirty="0"/>
              <a:t>..subsystem has received all inputs</a:t>
            </a:r>
            <a:r>
              <a:rPr lang="en-US" sz="1800" dirty="0"/>
              <a:t>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C5E9F0-3181-3B05-32E1-4D8FD1C19135}"/>
              </a:ext>
            </a:extLst>
          </p:cNvPr>
          <p:cNvSpPr txBox="1"/>
          <p:nvPr/>
        </p:nvSpPr>
        <p:spPr>
          <a:xfrm>
            <a:off x="2488035" y="4636186"/>
            <a:ext cx="33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[</a:t>
            </a:r>
            <a:r>
              <a:rPr lang="en-US" sz="1800" b="1" dirty="0"/>
              <a:t>When</a:t>
            </a:r>
            <a:r>
              <a:rPr lang="en-US" sz="1800" dirty="0"/>
              <a:t> </a:t>
            </a:r>
            <a:r>
              <a:rPr lang="en-US" sz="1800" i="1" dirty="0"/>
              <a:t>..subsystem completes its scheduling</a:t>
            </a:r>
            <a:r>
              <a:rPr lang="en-US" sz="1800" dirty="0"/>
              <a:t>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6D1F99B-F180-4452-FE6C-ABDB99C88097}"/>
              </a:ext>
            </a:extLst>
          </p:cNvPr>
          <p:cNvGrpSpPr/>
          <p:nvPr/>
        </p:nvGrpSpPr>
        <p:grpSpPr>
          <a:xfrm>
            <a:off x="-107032" y="5807638"/>
            <a:ext cx="8424052" cy="625599"/>
            <a:chOff x="-107032" y="5807638"/>
            <a:chExt cx="8424052" cy="62559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852B189-C177-A9CE-EEB1-47856F21D8E2}"/>
                </a:ext>
              </a:extLst>
            </p:cNvPr>
            <p:cNvSpPr txBox="1"/>
            <p:nvPr/>
          </p:nvSpPr>
          <p:spPr>
            <a:xfrm>
              <a:off x="751423" y="6063905"/>
              <a:ext cx="7565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>
                  <a:solidFill>
                    <a:schemeClr val="accent1"/>
                  </a:solidFill>
                </a:rPr>
                <a:t>…observations are for different parts of the system state (different ports)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EC8DF4F-9F5A-7CEA-6E62-463537232AA5}"/>
                </a:ext>
              </a:extLst>
            </p:cNvPr>
            <p:cNvSpPr txBox="1"/>
            <p:nvPr/>
          </p:nvSpPr>
          <p:spPr>
            <a:xfrm rot="20229565">
              <a:off x="-107032" y="5807638"/>
              <a:ext cx="1872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Challenges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233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7" grpId="0"/>
      <p:bldP spid="55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6A45-121C-28B1-DF0E-79264A01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Injections / Observations at Ports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04EE8-533E-DD13-0381-15DC6FB0BF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27D41BD1-BF7E-E869-D432-B65B1695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5645"/>
            <a:ext cx="7858792" cy="4023755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90882979-D6B4-1580-CFAA-5CD6F2684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06" y="1265871"/>
            <a:ext cx="7836788" cy="1015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This property relates to the </a:t>
            </a:r>
            <a:r>
              <a:rPr lang="en-US" sz="2000" b="1" dirty="0"/>
              <a:t>Regulate</a:t>
            </a:r>
            <a:r>
              <a:rPr lang="en-US" sz="2000" dirty="0"/>
              <a:t> subsystem.  So identify the </a:t>
            </a:r>
            <a:r>
              <a:rPr lang="en-US" sz="2000" b="1" dirty="0"/>
              <a:t>Regulate ports </a:t>
            </a:r>
            <a:r>
              <a:rPr lang="en-US" sz="2000" dirty="0"/>
              <a:t>for injections and observations </a:t>
            </a:r>
          </a:p>
          <a:p>
            <a:pPr algn="l"/>
            <a:r>
              <a:rPr lang="en-US" sz="2000" dirty="0"/>
              <a:t>(for this property, </a:t>
            </a:r>
            <a:r>
              <a:rPr lang="en-US" sz="2000" dirty="0">
                <a:solidFill>
                  <a:srgbClr val="FF0000"/>
                </a:solidFill>
              </a:rPr>
              <a:t>triggering conditions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B050"/>
                </a:solidFill>
              </a:rPr>
              <a:t>response conditions</a:t>
            </a:r>
            <a:r>
              <a:rPr lang="en-US" sz="2000" dirty="0"/>
              <a:t>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EE7649-E33E-CF90-BF92-A76C26061AEF}"/>
              </a:ext>
            </a:extLst>
          </p:cNvPr>
          <p:cNvGrpSpPr/>
          <p:nvPr/>
        </p:nvGrpSpPr>
        <p:grpSpPr>
          <a:xfrm>
            <a:off x="966126" y="2667200"/>
            <a:ext cx="3040903" cy="1578495"/>
            <a:chOff x="966126" y="2158183"/>
            <a:chExt cx="3040903" cy="157849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26707BC-4C79-871A-E7A1-8BDAF572F0DC}"/>
                </a:ext>
              </a:extLst>
            </p:cNvPr>
            <p:cNvGrpSpPr/>
            <p:nvPr/>
          </p:nvGrpSpPr>
          <p:grpSpPr>
            <a:xfrm>
              <a:off x="966126" y="2158183"/>
              <a:ext cx="1545426" cy="665645"/>
              <a:chOff x="966126" y="2158183"/>
              <a:chExt cx="1545426" cy="665645"/>
            </a:xfrm>
          </p:grpSpPr>
          <p:sp>
            <p:nvSpPr>
              <p:cNvPr id="7" name="Text Box 43">
                <a:extLst>
                  <a:ext uri="{FF2B5EF4-FFF2-40B4-BE49-F238E27FC236}">
                    <a16:creationId xmlns:a16="http://schemas.microsoft.com/office/drawing/2014/main" id="{1F1A38C7-9D8A-F507-D0A4-AA7BCCDCD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0475" y="2158183"/>
                <a:ext cx="1251077" cy="52322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i="1" dirty="0">
                    <a:latin typeface="Tahoma" pitchFamily="-84" charset="0"/>
                  </a:rPr>
                  <a:t>Desired temperature</a:t>
                </a:r>
                <a:endParaRPr lang="en-US" sz="1400" dirty="0">
                  <a:latin typeface="Tahoma" pitchFamily="-84" charset="0"/>
                </a:endParaRPr>
              </a:p>
            </p:txBody>
          </p:sp>
          <p:sp>
            <p:nvSpPr>
              <p:cNvPr id="8" name="Line 44">
                <a:extLst>
                  <a:ext uri="{FF2B5EF4-FFF2-40B4-BE49-F238E27FC236}">
                    <a16:creationId xmlns:a16="http://schemas.microsoft.com/office/drawing/2014/main" id="{2C9095A5-895C-0D49-5A4F-6C4DB65EF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98004" y="2353056"/>
                <a:ext cx="262471" cy="1071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9" name="Line 44">
                <a:extLst>
                  <a:ext uri="{FF2B5EF4-FFF2-40B4-BE49-F238E27FC236}">
                    <a16:creationId xmlns:a16="http://schemas.microsoft.com/office/drawing/2014/main" id="{FFC12770-762A-7FFC-BF70-C13B939E2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6126" y="2460228"/>
                <a:ext cx="294348" cy="363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CDEBC7D-6548-07B2-E9B9-F07404D328B4}"/>
                </a:ext>
              </a:extLst>
            </p:cNvPr>
            <p:cNvGrpSpPr/>
            <p:nvPr/>
          </p:nvGrpSpPr>
          <p:grpSpPr>
            <a:xfrm>
              <a:off x="998004" y="2569563"/>
              <a:ext cx="2645615" cy="550067"/>
              <a:chOff x="998004" y="2569563"/>
              <a:chExt cx="2645615" cy="550067"/>
            </a:xfrm>
          </p:grpSpPr>
          <p:sp>
            <p:nvSpPr>
              <p:cNvPr id="10" name="Text Box 43">
                <a:extLst>
                  <a:ext uri="{FF2B5EF4-FFF2-40B4-BE49-F238E27FC236}">
                    <a16:creationId xmlns:a16="http://schemas.microsoft.com/office/drawing/2014/main" id="{DD566B8A-96ED-0F0C-A3AB-D368C99998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2542" y="2569563"/>
                <a:ext cx="1251077" cy="52322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i="1" dirty="0">
                    <a:latin typeface="Tahoma" pitchFamily="-84" charset="0"/>
                  </a:rPr>
                  <a:t>Current</a:t>
                </a:r>
              </a:p>
              <a:p>
                <a:pPr algn="l">
                  <a:defRPr/>
                </a:pPr>
                <a:r>
                  <a:rPr lang="en-US" sz="1400" i="1" dirty="0">
                    <a:latin typeface="Tahoma" pitchFamily="-84" charset="0"/>
                  </a:rPr>
                  <a:t>temperature</a:t>
                </a:r>
                <a:endParaRPr lang="en-US" sz="1400" dirty="0">
                  <a:latin typeface="Tahoma" pitchFamily="-84" charset="0"/>
                </a:endParaRPr>
              </a:p>
            </p:txBody>
          </p:sp>
          <p:sp>
            <p:nvSpPr>
              <p:cNvPr id="11" name="Line 44">
                <a:extLst>
                  <a:ext uri="{FF2B5EF4-FFF2-40B4-BE49-F238E27FC236}">
                    <a16:creationId xmlns:a16="http://schemas.microsoft.com/office/drawing/2014/main" id="{72990206-16B2-0F57-CD17-5E52245F6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98004" y="2871607"/>
                <a:ext cx="1394538" cy="24802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12" name="Text Box 43">
              <a:extLst>
                <a:ext uri="{FF2B5EF4-FFF2-40B4-BE49-F238E27FC236}">
                  <a16:creationId xmlns:a16="http://schemas.microsoft.com/office/drawing/2014/main" id="{50C6A6BC-1FA6-A6EB-C083-E51F85C06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0208" y="3428901"/>
              <a:ext cx="726821" cy="30777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Mode</a:t>
              </a:r>
              <a:endParaRPr lang="en-US" sz="1400" dirty="0">
                <a:latin typeface="Tahoma" pitchFamily="-84" charset="0"/>
              </a:endParaRPr>
            </a:p>
          </p:txBody>
        </p:sp>
        <p:sp>
          <p:nvSpPr>
            <p:cNvPr id="13" name="Text Box 43">
              <a:extLst>
                <a:ext uri="{FF2B5EF4-FFF2-40B4-BE49-F238E27FC236}">
                  <a16:creationId xmlns:a16="http://schemas.microsoft.com/office/drawing/2014/main" id="{1AB58B01-C3B4-2582-1FD5-CEB71C19A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169" y="3411829"/>
              <a:ext cx="988949" cy="30777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Failures</a:t>
              </a:r>
              <a:endParaRPr lang="en-US" sz="1400" dirty="0">
                <a:latin typeface="Tahoma" pitchFamily="-84" charset="0"/>
              </a:endParaRPr>
            </a:p>
          </p:txBody>
        </p:sp>
      </p:grpSp>
      <p:sp>
        <p:nvSpPr>
          <p:cNvPr id="14" name="Text Box 43">
            <a:extLst>
              <a:ext uri="{FF2B5EF4-FFF2-40B4-BE49-F238E27FC236}">
                <a16:creationId xmlns:a16="http://schemas.microsoft.com/office/drawing/2014/main" id="{11D35FAE-BA2B-B1FF-BB7C-42AFA34B3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096" y="4463633"/>
            <a:ext cx="1213104" cy="30777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Heat Control</a:t>
            </a:r>
            <a:endParaRPr lang="en-US" sz="1400" dirty="0">
              <a:latin typeface="Tahom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11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6A45-121C-28B1-DF0E-79264A01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Vectors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04EE8-533E-DD13-0381-15DC6FB0BF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27D41BD1-BF7E-E869-D432-B65B1695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96628"/>
            <a:ext cx="7858792" cy="4023755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90882979-D6B4-1580-CFAA-5CD6F2684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06" y="1265871"/>
            <a:ext cx="7836788" cy="40011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HAMR provides support for constructing vectors of port values</a:t>
            </a:r>
          </a:p>
        </p:txBody>
      </p:sp>
      <p:sp>
        <p:nvSpPr>
          <p:cNvPr id="7" name="Text Box 43">
            <a:extLst>
              <a:ext uri="{FF2B5EF4-FFF2-40B4-BE49-F238E27FC236}">
                <a16:creationId xmlns:a16="http://schemas.microsoft.com/office/drawing/2014/main" id="{1F1A38C7-9D8A-F507-D0A4-AA7BCCDC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158183"/>
            <a:ext cx="1251077" cy="5232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Desired temperature</a:t>
            </a:r>
            <a:endParaRPr lang="en-US" sz="1400" dirty="0">
              <a:latin typeface="Tahoma" pitchFamily="-84" charset="0"/>
            </a:endParaRPr>
          </a:p>
        </p:txBody>
      </p:sp>
      <p:sp>
        <p:nvSpPr>
          <p:cNvPr id="8" name="Line 44">
            <a:extLst>
              <a:ext uri="{FF2B5EF4-FFF2-40B4-BE49-F238E27FC236}">
                <a16:creationId xmlns:a16="http://schemas.microsoft.com/office/drawing/2014/main" id="{2C9095A5-895C-0D49-5A4F-6C4DB65EF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8004" y="2353056"/>
            <a:ext cx="262471" cy="107172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9" name="Line 44">
            <a:extLst>
              <a:ext uri="{FF2B5EF4-FFF2-40B4-BE49-F238E27FC236}">
                <a16:creationId xmlns:a16="http://schemas.microsoft.com/office/drawing/2014/main" id="{FFC12770-762A-7FFC-BF70-C13B939E25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6126" y="2460228"/>
            <a:ext cx="294348" cy="363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10" name="Text Box 43">
            <a:extLst>
              <a:ext uri="{FF2B5EF4-FFF2-40B4-BE49-F238E27FC236}">
                <a16:creationId xmlns:a16="http://schemas.microsoft.com/office/drawing/2014/main" id="{DD566B8A-96ED-0F0C-A3AB-D368C9999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542" y="2569563"/>
            <a:ext cx="1251077" cy="5232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Current</a:t>
            </a:r>
          </a:p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temperature</a:t>
            </a:r>
            <a:endParaRPr lang="en-US" sz="1400" dirty="0">
              <a:latin typeface="Tahoma" pitchFamily="-84" charset="0"/>
            </a:endParaRPr>
          </a:p>
        </p:txBody>
      </p:sp>
      <p:sp>
        <p:nvSpPr>
          <p:cNvPr id="11" name="Line 44">
            <a:extLst>
              <a:ext uri="{FF2B5EF4-FFF2-40B4-BE49-F238E27FC236}">
                <a16:creationId xmlns:a16="http://schemas.microsoft.com/office/drawing/2014/main" id="{72990206-16B2-0F57-CD17-5E52245F66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8004" y="2871607"/>
            <a:ext cx="1394538" cy="248023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12" name="Text Box 43">
            <a:extLst>
              <a:ext uri="{FF2B5EF4-FFF2-40B4-BE49-F238E27FC236}">
                <a16:creationId xmlns:a16="http://schemas.microsoft.com/office/drawing/2014/main" id="{50C6A6BC-1FA6-A6EB-C083-E51F85C06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208" y="3428901"/>
            <a:ext cx="726821" cy="30777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Mode</a:t>
            </a:r>
            <a:endParaRPr lang="en-US" sz="1400" dirty="0">
              <a:latin typeface="Tahoma" pitchFamily="-84" charset="0"/>
            </a:endParaRPr>
          </a:p>
        </p:txBody>
      </p:sp>
      <p:sp>
        <p:nvSpPr>
          <p:cNvPr id="13" name="Text Box 43">
            <a:extLst>
              <a:ext uri="{FF2B5EF4-FFF2-40B4-BE49-F238E27FC236}">
                <a16:creationId xmlns:a16="http://schemas.microsoft.com/office/drawing/2014/main" id="{1AB58B01-C3B4-2582-1FD5-CEB71C19A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169" y="3411829"/>
            <a:ext cx="988949" cy="30777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Failures</a:t>
            </a:r>
            <a:endParaRPr lang="en-US" sz="1400" dirty="0">
              <a:latin typeface="Tahoma" pitchFamily="-84" charset="0"/>
            </a:endParaRPr>
          </a:p>
        </p:txBody>
      </p:sp>
      <p:sp>
        <p:nvSpPr>
          <p:cNvPr id="14" name="Text Box 43">
            <a:extLst>
              <a:ext uri="{FF2B5EF4-FFF2-40B4-BE49-F238E27FC236}">
                <a16:creationId xmlns:a16="http://schemas.microsoft.com/office/drawing/2014/main" id="{11D35FAE-BA2B-B1FF-BB7C-42AFA34B3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096" y="3954616"/>
            <a:ext cx="1213104" cy="30777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Heat Control</a:t>
            </a:r>
            <a:endParaRPr lang="en-US" sz="1400" dirty="0">
              <a:latin typeface="Tahoma" pitchFamily="-8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07924E-83BC-AFCE-9428-3F4C3747131A}"/>
              </a:ext>
            </a:extLst>
          </p:cNvPr>
          <p:cNvSpPr/>
          <p:nvPr/>
        </p:nvSpPr>
        <p:spPr bwMode="auto">
          <a:xfrm>
            <a:off x="304800" y="1864980"/>
            <a:ext cx="4040314" cy="2719212"/>
          </a:xfrm>
          <a:prstGeom prst="ellipse">
            <a:avLst/>
          </a:prstGeom>
          <a:solidFill>
            <a:srgbClr val="C000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01BD39-EA5B-B0B9-CA03-4EB69BBF6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342460"/>
            <a:ext cx="5321300" cy="115570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1524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72123964-E29A-A2FF-0305-46195D475219}"/>
              </a:ext>
            </a:extLst>
          </p:cNvPr>
          <p:cNvSpPr/>
          <p:nvPr/>
        </p:nvSpPr>
        <p:spPr bwMode="auto">
          <a:xfrm>
            <a:off x="7915662" y="2362692"/>
            <a:ext cx="923538" cy="1648476"/>
          </a:xfrm>
          <a:prstGeom prst="ellipse">
            <a:avLst/>
          </a:prstGeom>
          <a:solidFill>
            <a:srgbClr val="92D05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9C60-DDE4-ED3F-86FD-7C209622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Specification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79DB96-03B1-8DD0-B6BF-7FF20DC402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4431790-CEA2-C31A-0D47-7BEBB67D4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06" y="1265871"/>
            <a:ext cx="7836788" cy="707886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System property (state constraints) are specified as Slang Boolean functions on </a:t>
            </a:r>
            <a:r>
              <a:rPr lang="en-US" sz="2000" i="1" dirty="0"/>
              <a:t>injections/observations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F7CE71-0700-73C8-900A-477E20BD90F8}"/>
              </a:ext>
            </a:extLst>
          </p:cNvPr>
          <p:cNvGrpSpPr/>
          <p:nvPr/>
        </p:nvGrpSpPr>
        <p:grpSpPr>
          <a:xfrm>
            <a:off x="643888" y="3962400"/>
            <a:ext cx="8317612" cy="2362200"/>
            <a:chOff x="990600" y="2667000"/>
            <a:chExt cx="7031150" cy="18237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9B955C-5089-7E52-BA1F-81132937F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2667000"/>
              <a:ext cx="7025054" cy="12954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7991578-8186-4106-5B50-F37381289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350" y="3931920"/>
              <a:ext cx="7010400" cy="5588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DDC5564-5DCD-E7B7-CAE7-326273A46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667" y="2096628"/>
            <a:ext cx="3242653" cy="1755722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105E098-3BF2-3B26-AE5D-AD010A4D0C0F}"/>
              </a:ext>
            </a:extLst>
          </p:cNvPr>
          <p:cNvGrpSpPr/>
          <p:nvPr/>
        </p:nvGrpSpPr>
        <p:grpSpPr>
          <a:xfrm>
            <a:off x="685800" y="2263234"/>
            <a:ext cx="4114800" cy="2232566"/>
            <a:chOff x="685800" y="2263234"/>
            <a:chExt cx="4114800" cy="223256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767B283-44F8-9BA2-EDF7-84E87ADF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2263234"/>
              <a:ext cx="4114800" cy="1348929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DD3AE6-614E-EDA9-D881-6C73D030D29D}"/>
                </a:ext>
              </a:extLst>
            </p:cNvPr>
            <p:cNvSpPr/>
            <p:nvPr/>
          </p:nvSpPr>
          <p:spPr bwMode="auto">
            <a:xfrm>
              <a:off x="1676400" y="4267200"/>
              <a:ext cx="2895600" cy="2286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4" name="Line 44">
              <a:extLst>
                <a:ext uri="{FF2B5EF4-FFF2-40B4-BE49-F238E27FC236}">
                  <a16:creationId xmlns:a16="http://schemas.microsoft.com/office/drawing/2014/main" id="{32FAA496-A14C-62E4-8756-B8C66479C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05000" y="3489304"/>
              <a:ext cx="228600" cy="7755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D244BE-3138-805D-6790-93DD6A301411}"/>
              </a:ext>
            </a:extLst>
          </p:cNvPr>
          <p:cNvGrpSpPr/>
          <p:nvPr/>
        </p:nvGrpSpPr>
        <p:grpSpPr>
          <a:xfrm>
            <a:off x="1676400" y="3170010"/>
            <a:ext cx="2895600" cy="1556695"/>
            <a:chOff x="1676400" y="3170010"/>
            <a:chExt cx="2895600" cy="155669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B7A802-B2D8-7C15-0C29-73EA2F40FD3B}"/>
                </a:ext>
              </a:extLst>
            </p:cNvPr>
            <p:cNvSpPr/>
            <p:nvPr/>
          </p:nvSpPr>
          <p:spPr bwMode="auto">
            <a:xfrm>
              <a:off x="1676400" y="4498105"/>
              <a:ext cx="2895600" cy="228600"/>
            </a:xfrm>
            <a:prstGeom prst="rect">
              <a:avLst/>
            </a:prstGeom>
            <a:noFill/>
            <a:ln w="28575" cap="flat" cmpd="sng" algn="ctr">
              <a:solidFill>
                <a:srgbClr val="00B05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5" name="Line 44">
              <a:extLst>
                <a:ext uri="{FF2B5EF4-FFF2-40B4-BE49-F238E27FC236}">
                  <a16:creationId xmlns:a16="http://schemas.microsoft.com/office/drawing/2014/main" id="{188AAAF0-F19A-5221-862C-6244DA28E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600" y="3170010"/>
              <a:ext cx="38100" cy="154715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852142-D873-30DA-CC94-F8BD541A8602}"/>
              </a:ext>
            </a:extLst>
          </p:cNvPr>
          <p:cNvGrpSpPr/>
          <p:nvPr/>
        </p:nvGrpSpPr>
        <p:grpSpPr>
          <a:xfrm>
            <a:off x="1371600" y="2694228"/>
            <a:ext cx="6019800" cy="2470646"/>
            <a:chOff x="1371600" y="2694228"/>
            <a:chExt cx="6019800" cy="24706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2E660E-7B36-2E49-56F7-E3BC37E0AEC8}"/>
                </a:ext>
              </a:extLst>
            </p:cNvPr>
            <p:cNvSpPr/>
            <p:nvPr/>
          </p:nvSpPr>
          <p:spPr bwMode="auto">
            <a:xfrm>
              <a:off x="1371600" y="4936274"/>
              <a:ext cx="6019800" cy="2286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8" name="Line 44">
              <a:extLst>
                <a:ext uri="{FF2B5EF4-FFF2-40B4-BE49-F238E27FC236}">
                  <a16:creationId xmlns:a16="http://schemas.microsoft.com/office/drawing/2014/main" id="{55B05B3B-C6FC-76D1-504C-F9B595384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5067" y="2694228"/>
              <a:ext cx="758533" cy="219001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90A977-8666-C24B-D3AE-D2E12F8A74B8}"/>
              </a:ext>
            </a:extLst>
          </p:cNvPr>
          <p:cNvGrpSpPr/>
          <p:nvPr/>
        </p:nvGrpSpPr>
        <p:grpSpPr>
          <a:xfrm>
            <a:off x="3581400" y="3752831"/>
            <a:ext cx="4766311" cy="2097024"/>
            <a:chOff x="3581400" y="3752831"/>
            <a:chExt cx="4766311" cy="209702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3816DE-C224-2AEF-AE9B-B94A004A113F}"/>
                </a:ext>
              </a:extLst>
            </p:cNvPr>
            <p:cNvSpPr/>
            <p:nvPr/>
          </p:nvSpPr>
          <p:spPr bwMode="auto">
            <a:xfrm>
              <a:off x="3581400" y="5623944"/>
              <a:ext cx="4419600" cy="225911"/>
            </a:xfrm>
            <a:prstGeom prst="rect">
              <a:avLst/>
            </a:prstGeom>
            <a:noFill/>
            <a:ln w="28575" cap="flat" cmpd="sng" algn="ctr">
              <a:solidFill>
                <a:srgbClr val="00B05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9" name="Line 44">
              <a:extLst>
                <a:ext uri="{FF2B5EF4-FFF2-40B4-BE49-F238E27FC236}">
                  <a16:creationId xmlns:a16="http://schemas.microsoft.com/office/drawing/2014/main" id="{C56448AC-7BD3-0C53-6AAF-BE3273FCA9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97932" y="3752831"/>
              <a:ext cx="649779" cy="1813905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789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20FA-4486-B005-95D3-DB18E529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Static Schedule (Intuition)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5BD14FD-B3F6-8D15-DA60-4BA702B15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24428"/>
            <a:ext cx="8198641" cy="40011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Intuitive representation of static cyclic schedule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57BB7D1-4D33-181D-6C21-6D3C3EA22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3" name="Picture 2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66B838A5-5C70-9ABD-1ACB-5F96E7339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85" y="3029144"/>
            <a:ext cx="4490729" cy="2299284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CC81063-ADFE-797F-42FB-5A4233094551}"/>
              </a:ext>
            </a:extLst>
          </p:cNvPr>
          <p:cNvSpPr/>
          <p:nvPr/>
        </p:nvSpPr>
        <p:spPr>
          <a:xfrm>
            <a:off x="685800" y="2731416"/>
            <a:ext cx="1238269" cy="840839"/>
          </a:xfrm>
          <a:prstGeom prst="parallelogram">
            <a:avLst>
              <a:gd name="adj" fmla="val 16558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D80EE-56D9-25B5-CB09-ECE41FF8E8FF}"/>
              </a:ext>
            </a:extLst>
          </p:cNvPr>
          <p:cNvSpPr txBox="1"/>
          <p:nvPr/>
        </p:nvSpPr>
        <p:spPr>
          <a:xfrm>
            <a:off x="807720" y="2838886"/>
            <a:ext cx="111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Operator Interface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7E22376B-8818-F392-C4DD-7DFBCF297FE6}"/>
              </a:ext>
            </a:extLst>
          </p:cNvPr>
          <p:cNvSpPr/>
          <p:nvPr/>
        </p:nvSpPr>
        <p:spPr>
          <a:xfrm>
            <a:off x="685800" y="4774444"/>
            <a:ext cx="1238269" cy="840839"/>
          </a:xfrm>
          <a:prstGeom prst="parallelogram">
            <a:avLst>
              <a:gd name="adj" fmla="val 16558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CA17B-7D9E-AD5E-3337-1E0625A925A0}"/>
              </a:ext>
            </a:extLst>
          </p:cNvPr>
          <p:cNvSpPr txBox="1"/>
          <p:nvPr/>
        </p:nvSpPr>
        <p:spPr>
          <a:xfrm>
            <a:off x="807720" y="4881914"/>
            <a:ext cx="111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Temp</a:t>
            </a:r>
          </a:p>
          <a:p>
            <a:r>
              <a:rPr lang="en-US" sz="1600" dirty="0"/>
              <a:t>Sensor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609BCC7-DCA2-7A2C-3B6F-1B70BE8242D3}"/>
              </a:ext>
            </a:extLst>
          </p:cNvPr>
          <p:cNvSpPr/>
          <p:nvPr/>
        </p:nvSpPr>
        <p:spPr>
          <a:xfrm>
            <a:off x="6975630" y="3307417"/>
            <a:ext cx="1360650" cy="840839"/>
          </a:xfrm>
          <a:prstGeom prst="parallelogram">
            <a:avLst>
              <a:gd name="adj" fmla="val 16558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D8901-8D44-D779-F893-A43B2F687137}"/>
              </a:ext>
            </a:extLst>
          </p:cNvPr>
          <p:cNvSpPr txBox="1"/>
          <p:nvPr/>
        </p:nvSpPr>
        <p:spPr>
          <a:xfrm>
            <a:off x="7097550" y="3414887"/>
            <a:ext cx="1116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Heat </a:t>
            </a:r>
          </a:p>
          <a:p>
            <a:r>
              <a:rPr lang="en-US" sz="1600" dirty="0"/>
              <a:t>Controller</a:t>
            </a: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3FE7AC39-AA16-AA75-A45E-C3DCCC5A2AAB}"/>
              </a:ext>
            </a:extLst>
          </p:cNvPr>
          <p:cNvSpPr/>
          <p:nvPr/>
        </p:nvSpPr>
        <p:spPr bwMode="auto">
          <a:xfrm>
            <a:off x="1674363" y="3195431"/>
            <a:ext cx="621793" cy="438912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accent3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E2A9D622-D9BE-7ECA-705E-7B60FC6FF2EE}"/>
              </a:ext>
            </a:extLst>
          </p:cNvPr>
          <p:cNvSpPr/>
          <p:nvPr/>
        </p:nvSpPr>
        <p:spPr bwMode="auto">
          <a:xfrm rot="5400000">
            <a:off x="1759477" y="4758629"/>
            <a:ext cx="609600" cy="558982"/>
          </a:xfrm>
          <a:prstGeom prst="up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54792F01-7486-AE8B-3AA6-958491A6D126}"/>
              </a:ext>
            </a:extLst>
          </p:cNvPr>
          <p:cNvSpPr/>
          <p:nvPr/>
        </p:nvSpPr>
        <p:spPr bwMode="auto">
          <a:xfrm rot="5400000">
            <a:off x="6512334" y="3448345"/>
            <a:ext cx="609600" cy="558982"/>
          </a:xfrm>
          <a:prstGeom prst="up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887FDC4-92A7-A324-6A2A-74E1DBA631A8}"/>
              </a:ext>
            </a:extLst>
          </p:cNvPr>
          <p:cNvSpPr/>
          <p:nvPr/>
        </p:nvSpPr>
        <p:spPr bwMode="auto">
          <a:xfrm>
            <a:off x="8022336" y="2979781"/>
            <a:ext cx="664464" cy="573024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rPr>
              <a:t>10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0D57CA6-333C-A849-140C-711FFB5C9DEF}"/>
              </a:ext>
            </a:extLst>
          </p:cNvPr>
          <p:cNvGrpSpPr/>
          <p:nvPr/>
        </p:nvGrpSpPr>
        <p:grpSpPr>
          <a:xfrm>
            <a:off x="685800" y="1974011"/>
            <a:ext cx="1114434" cy="2938351"/>
            <a:chOff x="685800" y="1974011"/>
            <a:chExt cx="1114434" cy="293835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F0C1637-23E5-2BC1-9CB7-BB40E9C37D69}"/>
                </a:ext>
              </a:extLst>
            </p:cNvPr>
            <p:cNvGrpSpPr/>
            <p:nvPr/>
          </p:nvGrpSpPr>
          <p:grpSpPr>
            <a:xfrm>
              <a:off x="685800" y="2296310"/>
              <a:ext cx="499872" cy="2616052"/>
              <a:chOff x="685800" y="2296310"/>
              <a:chExt cx="499872" cy="2616052"/>
            </a:xfrm>
            <a:solidFill>
              <a:schemeClr val="accent5"/>
            </a:solidFill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748545C-14BD-45D0-9AB0-3D7F9EDD68EC}"/>
                  </a:ext>
                </a:extLst>
              </p:cNvPr>
              <p:cNvSpPr/>
              <p:nvPr/>
            </p:nvSpPr>
            <p:spPr bwMode="auto">
              <a:xfrm>
                <a:off x="758952" y="2296310"/>
                <a:ext cx="426720" cy="573024"/>
              </a:xfrm>
              <a:prstGeom prst="ellips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charset="0"/>
                  </a:rPr>
                  <a:t>0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53D9585-A936-89B5-43C5-1639B5604F7C}"/>
                  </a:ext>
                </a:extLst>
              </p:cNvPr>
              <p:cNvSpPr/>
              <p:nvPr/>
            </p:nvSpPr>
            <p:spPr bwMode="auto">
              <a:xfrm>
                <a:off x="685800" y="4339338"/>
                <a:ext cx="426720" cy="573024"/>
              </a:xfrm>
              <a:prstGeom prst="ellips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charset="0"/>
                  </a:rPr>
                  <a:t>1</a:t>
                </a:r>
              </a:p>
            </p:txBody>
          </p:sp>
        </p:grpSp>
        <p:sp>
          <p:nvSpPr>
            <p:cNvPr id="39" name="Text Box 12">
              <a:extLst>
                <a:ext uri="{FF2B5EF4-FFF2-40B4-BE49-F238E27FC236}">
                  <a16:creationId xmlns:a16="http://schemas.microsoft.com/office/drawing/2014/main" id="{615ED527-8FF9-FBBD-520B-0BF4967A1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634" y="1974011"/>
              <a:ext cx="990600" cy="46166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i="1" dirty="0" err="1"/>
                <a:t>Subsytem</a:t>
              </a:r>
              <a:r>
                <a:rPr lang="en-US" sz="1200" i="1" dirty="0"/>
                <a:t> Inputs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4474073-B3E5-F389-6724-2449478D05F4}"/>
              </a:ext>
            </a:extLst>
          </p:cNvPr>
          <p:cNvGrpSpPr/>
          <p:nvPr/>
        </p:nvGrpSpPr>
        <p:grpSpPr>
          <a:xfrm>
            <a:off x="2596335" y="4176456"/>
            <a:ext cx="3173529" cy="1290233"/>
            <a:chOff x="2596335" y="4176456"/>
            <a:chExt cx="3173529" cy="129023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FA08E74-82D7-BA99-E472-92AA32EAD19C}"/>
                </a:ext>
              </a:extLst>
            </p:cNvPr>
            <p:cNvGrpSpPr/>
            <p:nvPr/>
          </p:nvGrpSpPr>
          <p:grpSpPr>
            <a:xfrm>
              <a:off x="2596335" y="4176456"/>
              <a:ext cx="3173529" cy="837280"/>
              <a:chOff x="2596335" y="4176456"/>
              <a:chExt cx="3173529" cy="837280"/>
            </a:xfrm>
            <a:solidFill>
              <a:schemeClr val="accent5"/>
            </a:solidFill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CE2A23D-F45D-26EE-8D53-D98B062DEA2B}"/>
                  </a:ext>
                </a:extLst>
              </p:cNvPr>
              <p:cNvSpPr/>
              <p:nvPr/>
            </p:nvSpPr>
            <p:spPr bwMode="auto">
              <a:xfrm>
                <a:off x="2596335" y="4600076"/>
                <a:ext cx="368808" cy="413660"/>
              </a:xfrm>
              <a:prstGeom prst="ellips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charset="0"/>
                  </a:rPr>
                  <a:t>7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8A543F-0569-9641-6D78-F05A2ACF2FA5}"/>
                  </a:ext>
                </a:extLst>
              </p:cNvPr>
              <p:cNvSpPr/>
              <p:nvPr/>
            </p:nvSpPr>
            <p:spPr bwMode="auto">
              <a:xfrm>
                <a:off x="4017264" y="4176456"/>
                <a:ext cx="368808" cy="413660"/>
              </a:xfrm>
              <a:prstGeom prst="ellips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dirty="0">
                    <a:latin typeface="Tahoma" charset="0"/>
                  </a:rPr>
                  <a:t>8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823BAAA-CA5E-00D9-285D-85C1F36ADDB9}"/>
                  </a:ext>
                </a:extLst>
              </p:cNvPr>
              <p:cNvSpPr/>
              <p:nvPr/>
            </p:nvSpPr>
            <p:spPr bwMode="auto">
              <a:xfrm>
                <a:off x="5401056" y="4402008"/>
                <a:ext cx="368808" cy="413660"/>
              </a:xfrm>
              <a:prstGeom prst="ellipse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dirty="0">
                    <a:latin typeface="Tahoma" charset="0"/>
                  </a:rPr>
                  <a:t>9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endParaRPr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EBD86D8-FEFC-7AB5-A80C-06C2B84CD106}"/>
                </a:ext>
              </a:extLst>
            </p:cNvPr>
            <p:cNvSpPr/>
            <p:nvPr/>
          </p:nvSpPr>
          <p:spPr bwMode="auto">
            <a:xfrm>
              <a:off x="3368040" y="5053029"/>
              <a:ext cx="368808" cy="41366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Tahoma" charset="0"/>
                </a:rPr>
                <a:t>6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2A6F74F-01C2-76AD-0009-EC7700CA2B29}"/>
              </a:ext>
            </a:extLst>
          </p:cNvPr>
          <p:cNvGrpSpPr/>
          <p:nvPr/>
        </p:nvGrpSpPr>
        <p:grpSpPr>
          <a:xfrm>
            <a:off x="3368040" y="3634343"/>
            <a:ext cx="1605413" cy="712105"/>
            <a:chOff x="3368040" y="3634343"/>
            <a:chExt cx="1605413" cy="71210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BE03208-91B1-78E9-FBBB-905CDF2902CE}"/>
                </a:ext>
              </a:extLst>
            </p:cNvPr>
            <p:cNvSpPr/>
            <p:nvPr/>
          </p:nvSpPr>
          <p:spPr bwMode="auto">
            <a:xfrm>
              <a:off x="3368040" y="3932788"/>
              <a:ext cx="368808" cy="41366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charset="0"/>
                </a:rPr>
                <a:t>2</a:t>
              </a:r>
            </a:p>
          </p:txBody>
        </p:sp>
        <p:sp>
          <p:nvSpPr>
            <p:cNvPr id="40" name="Text Box 12">
              <a:extLst>
                <a:ext uri="{FF2B5EF4-FFF2-40B4-BE49-F238E27FC236}">
                  <a16:creationId xmlns:a16="http://schemas.microsoft.com/office/drawing/2014/main" id="{8B374EC0-6AC4-5F78-C3DD-AAD94DD49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6604" y="3634343"/>
              <a:ext cx="1306849" cy="46166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i="1" dirty="0"/>
                <a:t>Internal Failure Detection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A15ACCA-3AB2-EC24-C860-3B55A3B04B98}"/>
              </a:ext>
            </a:extLst>
          </p:cNvPr>
          <p:cNvGrpSpPr/>
          <p:nvPr/>
        </p:nvGrpSpPr>
        <p:grpSpPr>
          <a:xfrm>
            <a:off x="3876825" y="2761941"/>
            <a:ext cx="1695930" cy="676203"/>
            <a:chOff x="3876825" y="2761941"/>
            <a:chExt cx="1695930" cy="676203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F09A627-104C-4711-F023-A80D271C1231}"/>
                </a:ext>
              </a:extLst>
            </p:cNvPr>
            <p:cNvSpPr/>
            <p:nvPr/>
          </p:nvSpPr>
          <p:spPr bwMode="auto">
            <a:xfrm>
              <a:off x="3876825" y="3024484"/>
              <a:ext cx="368808" cy="41366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Tahoma" charset="0"/>
                </a:rPr>
                <a:t>3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FFA3DE67-6793-9087-8AFF-1E209C574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792" y="2761941"/>
              <a:ext cx="1570963" cy="27699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i="1" dirty="0"/>
                <a:t>Manage Interface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05BC92-112F-31EA-A0D9-79A17F799AFF}"/>
              </a:ext>
            </a:extLst>
          </p:cNvPr>
          <p:cNvGrpSpPr/>
          <p:nvPr/>
        </p:nvGrpSpPr>
        <p:grpSpPr>
          <a:xfrm>
            <a:off x="2446301" y="3125307"/>
            <a:ext cx="1176977" cy="684693"/>
            <a:chOff x="2446301" y="3125307"/>
            <a:chExt cx="1176977" cy="684693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1EB886D-570D-4323-A505-17018B527860}"/>
                </a:ext>
              </a:extLst>
            </p:cNvPr>
            <p:cNvSpPr/>
            <p:nvPr/>
          </p:nvSpPr>
          <p:spPr bwMode="auto">
            <a:xfrm>
              <a:off x="2578377" y="3396340"/>
              <a:ext cx="368808" cy="41366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Tahoma" charset="0"/>
                </a:rPr>
                <a:t>4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2" name="Text Box 12">
              <a:extLst>
                <a:ext uri="{FF2B5EF4-FFF2-40B4-BE49-F238E27FC236}">
                  <a16:creationId xmlns:a16="http://schemas.microsoft.com/office/drawing/2014/main" id="{81A9E0E4-0434-7177-2530-B46FE34E8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6301" y="3125307"/>
              <a:ext cx="1176977" cy="27699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i="1" dirty="0"/>
                <a:t>Manage Mode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8F9F0ED-069C-AB1A-3443-77B08BFE5E06}"/>
              </a:ext>
            </a:extLst>
          </p:cNvPr>
          <p:cNvGrpSpPr/>
          <p:nvPr/>
        </p:nvGrpSpPr>
        <p:grpSpPr>
          <a:xfrm>
            <a:off x="5998233" y="2820434"/>
            <a:ext cx="1012730" cy="1007854"/>
            <a:chOff x="5998233" y="2820434"/>
            <a:chExt cx="1012730" cy="10078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DC1A298-95C2-A241-34BC-8EF3A5B1DECD}"/>
                </a:ext>
              </a:extLst>
            </p:cNvPr>
            <p:cNvSpPr/>
            <p:nvPr/>
          </p:nvSpPr>
          <p:spPr bwMode="auto">
            <a:xfrm>
              <a:off x="5998233" y="3414628"/>
              <a:ext cx="368808" cy="41366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Tahoma" charset="0"/>
                </a:rPr>
                <a:t>5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3" name="Text Box 12">
              <a:extLst>
                <a:ext uri="{FF2B5EF4-FFF2-40B4-BE49-F238E27FC236}">
                  <a16:creationId xmlns:a16="http://schemas.microsoft.com/office/drawing/2014/main" id="{F67449F2-644E-2E7E-CC51-F65AA82C6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7667" y="2820434"/>
              <a:ext cx="893296" cy="64633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i="1" dirty="0"/>
                <a:t>Manage Heat Source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709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00FA-93C3-21AE-45BA-319617E5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Schedule Declaration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8EB86-4FC7-65AE-6EFE-3A40B9200C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22399C2-1ADD-1549-9753-CEA7C1EED1B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C706FC0-EDBE-7DFB-0A50-B9E0CB216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81352"/>
            <a:ext cx="7836788" cy="646331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Using a scheduling approach that aligns with seL4 </a:t>
            </a:r>
            <a:r>
              <a:rPr lang="en-US" sz="1800" i="1" dirty="0"/>
              <a:t>domain scheduler</a:t>
            </a:r>
            <a:r>
              <a:rPr lang="en-US" sz="1800" dirty="0"/>
              <a:t> and Collins Aerospace strategies – static cyclic scheduling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0C0AEC-26DE-F7D6-A602-32EF9AFA7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81200"/>
            <a:ext cx="8610600" cy="4660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77870-E95F-1836-BD28-861462F0C1F2}"/>
              </a:ext>
            </a:extLst>
          </p:cNvPr>
          <p:cNvSpPr txBox="1"/>
          <p:nvPr/>
        </p:nvSpPr>
        <p:spPr>
          <a:xfrm rot="16200000">
            <a:off x="-1106993" y="4158734"/>
            <a:ext cx="27432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Excerpts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A86979-2294-EA6E-4944-88F2BD99D816}"/>
              </a:ext>
            </a:extLst>
          </p:cNvPr>
          <p:cNvGrpSpPr/>
          <p:nvPr/>
        </p:nvGrpSpPr>
        <p:grpSpPr>
          <a:xfrm>
            <a:off x="99646" y="3883579"/>
            <a:ext cx="7825154" cy="2758278"/>
            <a:chOff x="99646" y="3883579"/>
            <a:chExt cx="7825154" cy="2758278"/>
          </a:xfrm>
        </p:grpSpPr>
        <p:sp>
          <p:nvSpPr>
            <p:cNvPr id="10" name="Text Box 43">
              <a:extLst>
                <a:ext uri="{FF2B5EF4-FFF2-40B4-BE49-F238E27FC236}">
                  <a16:creationId xmlns:a16="http://schemas.microsoft.com/office/drawing/2014/main" id="{CEFEFD46-A8B1-E48B-714D-9BEACC11D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46" y="6334080"/>
              <a:ext cx="3924300" cy="30777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Manage Heat Source </a:t>
              </a:r>
              <a:r>
                <a:rPr lang="en-US" sz="1400" dirty="0">
                  <a:latin typeface="Tahoma" pitchFamily="-84" charset="0"/>
                </a:rPr>
                <a:t>allocated to slot # 5</a:t>
              </a:r>
              <a:endParaRPr lang="en-US" sz="1400" i="1" dirty="0">
                <a:latin typeface="Tahoma" pitchFamily="-8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A28EF1-50E4-CBE1-242D-B3CF6297210B}"/>
                </a:ext>
              </a:extLst>
            </p:cNvPr>
            <p:cNvSpPr/>
            <p:nvPr/>
          </p:nvSpPr>
          <p:spPr bwMode="auto">
            <a:xfrm>
              <a:off x="2170667" y="3883579"/>
              <a:ext cx="436685" cy="306706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03F59C-09A8-18CE-C0FD-8F3C0833CEA3}"/>
                </a:ext>
              </a:extLst>
            </p:cNvPr>
            <p:cNvSpPr/>
            <p:nvPr/>
          </p:nvSpPr>
          <p:spPr bwMode="auto">
            <a:xfrm>
              <a:off x="2611315" y="5789294"/>
              <a:ext cx="5313485" cy="306706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13" name="Line 44">
              <a:extLst>
                <a:ext uri="{FF2B5EF4-FFF2-40B4-BE49-F238E27FC236}">
                  <a16:creationId xmlns:a16="http://schemas.microsoft.com/office/drawing/2014/main" id="{CCEBBC95-18BA-8729-C745-9F0927000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851" y="4190285"/>
              <a:ext cx="1465816" cy="21597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Line 44">
              <a:extLst>
                <a:ext uri="{FF2B5EF4-FFF2-40B4-BE49-F238E27FC236}">
                  <a16:creationId xmlns:a16="http://schemas.microsoft.com/office/drawing/2014/main" id="{B39D2136-1B92-E376-8058-331229D96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306" y="6095999"/>
              <a:ext cx="159294" cy="2539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431C5D-3BFA-211B-71EB-8CE7E5CF09FC}"/>
              </a:ext>
            </a:extLst>
          </p:cNvPr>
          <p:cNvGrpSpPr/>
          <p:nvPr/>
        </p:nvGrpSpPr>
        <p:grpSpPr>
          <a:xfrm>
            <a:off x="4639352" y="2971800"/>
            <a:ext cx="4293633" cy="1066799"/>
            <a:chOff x="4639352" y="2971800"/>
            <a:chExt cx="4293633" cy="1066799"/>
          </a:xfrm>
        </p:grpSpPr>
        <p:sp>
          <p:nvSpPr>
            <p:cNvPr id="7" name="Text Box 43">
              <a:extLst>
                <a:ext uri="{FF2B5EF4-FFF2-40B4-BE49-F238E27FC236}">
                  <a16:creationId xmlns:a16="http://schemas.microsoft.com/office/drawing/2014/main" id="{BA3C0000-0074-3B40-1FEA-41D9F0A3F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8685" y="3144914"/>
              <a:ext cx="3924300" cy="7386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dirty="0">
                  <a:latin typeface="Tahoma" pitchFamily="-84" charset="0"/>
                </a:rPr>
                <a:t>Scheduling slots that include a thread identifier and the absolute execution time associated with that thread…</a:t>
              </a:r>
            </a:p>
          </p:txBody>
        </p:sp>
        <p:sp>
          <p:nvSpPr>
            <p:cNvPr id="8" name="Line 44">
              <a:extLst>
                <a:ext uri="{FF2B5EF4-FFF2-40B4-BE49-F238E27FC236}">
                  <a16:creationId xmlns:a16="http://schemas.microsoft.com/office/drawing/2014/main" id="{C9D8E219-EB5A-8AF3-ECD9-8BDDE81C7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9352" y="3730389"/>
              <a:ext cx="369333" cy="992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5" name="Line 44">
              <a:extLst>
                <a:ext uri="{FF2B5EF4-FFF2-40B4-BE49-F238E27FC236}">
                  <a16:creationId xmlns:a16="http://schemas.microsoft.com/office/drawing/2014/main" id="{CB605481-15D6-5E40-2549-D37B095E6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9352" y="2971800"/>
              <a:ext cx="0" cy="106679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4F3909D-9158-95CB-BC10-9465DB2FE080}"/>
              </a:ext>
            </a:extLst>
          </p:cNvPr>
          <p:cNvSpPr txBox="1"/>
          <p:nvPr/>
        </p:nvSpPr>
        <p:spPr>
          <a:xfrm>
            <a:off x="445626" y="2873147"/>
            <a:ext cx="309700" cy="1569660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0</a:t>
            </a:r>
          </a:p>
          <a:p>
            <a:r>
              <a:rPr lang="en-US" sz="1600" dirty="0"/>
              <a:t>..</a:t>
            </a:r>
          </a:p>
          <a:p>
            <a:r>
              <a:rPr lang="en-US" sz="1600" dirty="0"/>
              <a:t>3</a:t>
            </a:r>
          </a:p>
          <a:p>
            <a:r>
              <a:rPr lang="en-US" sz="1600" dirty="0"/>
              <a:t>4</a:t>
            </a:r>
          </a:p>
          <a:p>
            <a:r>
              <a:rPr lang="en-US" sz="1600" dirty="0"/>
              <a:t>5</a:t>
            </a:r>
          </a:p>
          <a:p>
            <a:r>
              <a:rPr lang="en-US" sz="16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48019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9CAF7E7-4917-7AA7-301B-5B2B3144AF72}"/>
              </a:ext>
            </a:extLst>
          </p:cNvPr>
          <p:cNvSpPr/>
          <p:nvPr/>
        </p:nvSpPr>
        <p:spPr bwMode="auto">
          <a:xfrm>
            <a:off x="636253" y="2200779"/>
            <a:ext cx="1209334" cy="8481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0DC00-DA67-FC45-A130-0DA072A1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Concept of Execution Schema for This Property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9990C-1484-6940-94CB-6E5AFD99B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HAMR - Hatcliff -- Kansas State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47A4A-C36E-27E7-3CFF-A05E01B057C2}"/>
              </a:ext>
            </a:extLst>
          </p:cNvPr>
          <p:cNvSpPr/>
          <p:nvPr/>
        </p:nvSpPr>
        <p:spPr bwMode="auto">
          <a:xfrm>
            <a:off x="750554" y="4231001"/>
            <a:ext cx="9144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990225-471C-BBAE-991E-01CA73F55564}"/>
              </a:ext>
            </a:extLst>
          </p:cNvPr>
          <p:cNvSpPr/>
          <p:nvPr/>
        </p:nvSpPr>
        <p:spPr bwMode="auto">
          <a:xfrm>
            <a:off x="2105557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C2454E-77B4-1795-C7CC-85B9EE335CE4}"/>
              </a:ext>
            </a:extLst>
          </p:cNvPr>
          <p:cNvSpPr/>
          <p:nvPr/>
        </p:nvSpPr>
        <p:spPr bwMode="auto">
          <a:xfrm>
            <a:off x="29603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5A78EE-D5B2-C864-6895-6CC4586467F6}"/>
              </a:ext>
            </a:extLst>
          </p:cNvPr>
          <p:cNvSpPr/>
          <p:nvPr/>
        </p:nvSpPr>
        <p:spPr bwMode="auto">
          <a:xfrm>
            <a:off x="34556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1A91BE-9F70-0F5C-F987-A9C98C2DCADE}"/>
              </a:ext>
            </a:extLst>
          </p:cNvPr>
          <p:cNvSpPr/>
          <p:nvPr/>
        </p:nvSpPr>
        <p:spPr bwMode="auto">
          <a:xfrm>
            <a:off x="39509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E03117-D632-38B0-C967-9CD3B61ACB82}"/>
              </a:ext>
            </a:extLst>
          </p:cNvPr>
          <p:cNvSpPr/>
          <p:nvPr/>
        </p:nvSpPr>
        <p:spPr bwMode="auto">
          <a:xfrm>
            <a:off x="44462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C9DE10-10D6-86B7-4FBB-DD8D087343DF}"/>
              </a:ext>
            </a:extLst>
          </p:cNvPr>
          <p:cNvSpPr/>
          <p:nvPr/>
        </p:nvSpPr>
        <p:spPr bwMode="auto">
          <a:xfrm>
            <a:off x="49415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45E1DC-C5F8-A455-43B9-B68EC7819101}"/>
              </a:ext>
            </a:extLst>
          </p:cNvPr>
          <p:cNvSpPr/>
          <p:nvPr/>
        </p:nvSpPr>
        <p:spPr bwMode="auto">
          <a:xfrm>
            <a:off x="54368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B23847-C4AB-E73F-D3D0-B88D94FA8619}"/>
              </a:ext>
            </a:extLst>
          </p:cNvPr>
          <p:cNvSpPr/>
          <p:nvPr/>
        </p:nvSpPr>
        <p:spPr bwMode="auto">
          <a:xfrm>
            <a:off x="59321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05424C7-3A8F-6064-173B-D41C18F84651}"/>
              </a:ext>
            </a:extLst>
          </p:cNvPr>
          <p:cNvSpPr/>
          <p:nvPr/>
        </p:nvSpPr>
        <p:spPr bwMode="auto">
          <a:xfrm>
            <a:off x="64274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AE0B1F-2BFB-E7F3-3679-B334229EB001}"/>
              </a:ext>
            </a:extLst>
          </p:cNvPr>
          <p:cNvSpPr/>
          <p:nvPr/>
        </p:nvSpPr>
        <p:spPr bwMode="auto">
          <a:xfrm>
            <a:off x="6922754" y="4231001"/>
            <a:ext cx="3810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849361-461E-5B0C-19AE-CE0C0A3B0C6C}"/>
              </a:ext>
            </a:extLst>
          </p:cNvPr>
          <p:cNvSpPr/>
          <p:nvPr/>
        </p:nvSpPr>
        <p:spPr bwMode="auto">
          <a:xfrm>
            <a:off x="7913354" y="4231001"/>
            <a:ext cx="10668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A36526-B4C1-244B-0753-6EEAF3ACFFAE}"/>
              </a:ext>
            </a:extLst>
          </p:cNvPr>
          <p:cNvSpPr txBox="1"/>
          <p:nvPr/>
        </p:nvSpPr>
        <p:spPr>
          <a:xfrm>
            <a:off x="680205" y="4851976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Initialization 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6D8C4CA5-FF3D-F41D-48CF-A404ADEA4F15}"/>
              </a:ext>
            </a:extLst>
          </p:cNvPr>
          <p:cNvSpPr/>
          <p:nvPr/>
        </p:nvSpPr>
        <p:spPr bwMode="auto">
          <a:xfrm rot="5400000">
            <a:off x="4737035" y="1805643"/>
            <a:ext cx="253916" cy="5940877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22EA277F-2056-79F0-6E81-932DAA68FBDD}"/>
              </a:ext>
            </a:extLst>
          </p:cNvPr>
          <p:cNvSpPr/>
          <p:nvPr/>
        </p:nvSpPr>
        <p:spPr bwMode="auto">
          <a:xfrm rot="5400000">
            <a:off x="1093453" y="4246842"/>
            <a:ext cx="228600" cy="106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40D46-CF6B-D095-A497-21806374BACE}"/>
              </a:ext>
            </a:extLst>
          </p:cNvPr>
          <p:cNvSpPr txBox="1"/>
          <p:nvPr/>
        </p:nvSpPr>
        <p:spPr>
          <a:xfrm>
            <a:off x="4461552" y="4868770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Compute 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33645-23A0-B423-3BB9-A1523E35CCDE}"/>
              </a:ext>
            </a:extLst>
          </p:cNvPr>
          <p:cNvSpPr txBox="1"/>
          <p:nvPr/>
        </p:nvSpPr>
        <p:spPr>
          <a:xfrm>
            <a:off x="6817798" y="3134698"/>
            <a:ext cx="11464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&lt;w</a:t>
            </a:r>
            <a:r>
              <a:rPr lang="en-US" sz="1050" baseline="-25000" dirty="0"/>
              <a:t>1</a:t>
            </a:r>
            <a:r>
              <a:rPr lang="en-US" sz="1050" dirty="0"/>
              <a:t>,w</a:t>
            </a:r>
            <a:r>
              <a:rPr lang="en-US" sz="1050" baseline="-25000" dirty="0"/>
              <a:t>2</a:t>
            </a:r>
            <a:r>
              <a:rPr lang="en-US" sz="1050" dirty="0"/>
              <a:t>, ..., </a:t>
            </a:r>
            <a:r>
              <a:rPr lang="en-US" sz="1050" dirty="0" err="1"/>
              <a:t>w</a:t>
            </a:r>
            <a:r>
              <a:rPr lang="en-US" sz="1050" baseline="-25000" dirty="0" err="1"/>
              <a:t>k</a:t>
            </a:r>
            <a:r>
              <a:rPr lang="en-US" sz="1050" dirty="0"/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F365B-4ACB-F45C-0533-7BD4DF1A7C16}"/>
              </a:ext>
            </a:extLst>
          </p:cNvPr>
          <p:cNvSpPr txBox="1"/>
          <p:nvPr/>
        </p:nvSpPr>
        <p:spPr>
          <a:xfrm>
            <a:off x="3293112" y="3125123"/>
            <a:ext cx="10502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&lt;u</a:t>
            </a:r>
            <a:r>
              <a:rPr lang="en-US" sz="1050" baseline="-25000" dirty="0"/>
              <a:t>1</a:t>
            </a:r>
            <a:r>
              <a:rPr lang="en-US" sz="1050" dirty="0"/>
              <a:t>,u</a:t>
            </a:r>
            <a:r>
              <a:rPr lang="en-US" sz="1050" baseline="-25000" dirty="0"/>
              <a:t>2</a:t>
            </a:r>
            <a:r>
              <a:rPr lang="en-US" sz="1050" dirty="0"/>
              <a:t>, ..., </a:t>
            </a:r>
            <a:r>
              <a:rPr lang="en-US" sz="1050" dirty="0" err="1"/>
              <a:t>u</a:t>
            </a:r>
            <a:r>
              <a:rPr lang="en-US" sz="1050" baseline="-25000" dirty="0" err="1"/>
              <a:t>l</a:t>
            </a:r>
            <a:r>
              <a:rPr lang="en-US" sz="1050" dirty="0"/>
              <a:t>&gt;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22B96D-CA70-EA05-F9C5-14553828CB46}"/>
              </a:ext>
            </a:extLst>
          </p:cNvPr>
          <p:cNvCxnSpPr>
            <a:cxnSpLocks/>
          </p:cNvCxnSpPr>
          <p:nvPr/>
        </p:nvCxnSpPr>
        <p:spPr bwMode="auto">
          <a:xfrm flipV="1">
            <a:off x="7371443" y="3392801"/>
            <a:ext cx="0" cy="914400"/>
          </a:xfrm>
          <a:prstGeom prst="straightConnector1">
            <a:avLst/>
          </a:prstGeom>
          <a:solidFill>
            <a:schemeClr val="accent1"/>
          </a:solidFill>
          <a:ln w="38100" cap="flat" cmpd="dbl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270026-C443-4472-2007-ECF4BAE9CA90}"/>
              </a:ext>
            </a:extLst>
          </p:cNvPr>
          <p:cNvCxnSpPr>
            <a:cxnSpLocks/>
          </p:cNvCxnSpPr>
          <p:nvPr/>
        </p:nvCxnSpPr>
        <p:spPr bwMode="auto">
          <a:xfrm>
            <a:off x="3915959" y="3379039"/>
            <a:ext cx="0" cy="914400"/>
          </a:xfrm>
          <a:prstGeom prst="straightConnector1">
            <a:avLst/>
          </a:prstGeom>
          <a:solidFill>
            <a:schemeClr val="accent1"/>
          </a:solidFill>
          <a:ln w="38100" cap="flat" cmpd="dbl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950752-89DA-01D6-C27C-97DEC106E318}"/>
              </a:ext>
            </a:extLst>
          </p:cNvPr>
          <p:cNvSpPr/>
          <p:nvPr/>
        </p:nvSpPr>
        <p:spPr bwMode="auto">
          <a:xfrm>
            <a:off x="3657600" y="3581400"/>
            <a:ext cx="495300" cy="255752"/>
          </a:xfrm>
          <a:prstGeom prst="ellipse">
            <a:avLst/>
          </a:prstGeom>
          <a:solidFill>
            <a:srgbClr val="FFE267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D53C3-BD76-A3FC-6137-488998042930}"/>
              </a:ext>
            </a:extLst>
          </p:cNvPr>
          <p:cNvSpPr txBox="1"/>
          <p:nvPr/>
        </p:nvSpPr>
        <p:spPr>
          <a:xfrm>
            <a:off x="3526385" y="3500435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inject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C66E65-CDCB-31C1-0E3B-1F5A2A566EAE}"/>
              </a:ext>
            </a:extLst>
          </p:cNvPr>
          <p:cNvSpPr/>
          <p:nvPr/>
        </p:nvSpPr>
        <p:spPr bwMode="auto">
          <a:xfrm>
            <a:off x="7124700" y="3599982"/>
            <a:ext cx="495300" cy="304800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473FC1-A7C5-BF14-6168-B9C23A24D43E}"/>
              </a:ext>
            </a:extLst>
          </p:cNvPr>
          <p:cNvSpPr txBox="1"/>
          <p:nvPr/>
        </p:nvSpPr>
        <p:spPr>
          <a:xfrm>
            <a:off x="6857264" y="3524010"/>
            <a:ext cx="1067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observe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B67C7-AEBF-CF61-2B80-33BFBC94BDC3}"/>
              </a:ext>
            </a:extLst>
          </p:cNvPr>
          <p:cNvSpPr txBox="1"/>
          <p:nvPr/>
        </p:nvSpPr>
        <p:spPr>
          <a:xfrm>
            <a:off x="2637453" y="2057400"/>
            <a:ext cx="373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SysPropNormalModeHeatOff</a:t>
            </a:r>
            <a:r>
              <a:rPr lang="en-US" sz="1800" dirty="0"/>
              <a:t>(   ,   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37AB59-58CA-41FF-D7D0-56D9E9FACD5C}"/>
              </a:ext>
            </a:extLst>
          </p:cNvPr>
          <p:cNvCxnSpPr>
            <a:cxnSpLocks/>
          </p:cNvCxnSpPr>
          <p:nvPr/>
        </p:nvCxnSpPr>
        <p:spPr bwMode="auto">
          <a:xfrm flipV="1">
            <a:off x="4038600" y="2321835"/>
            <a:ext cx="1759405" cy="8481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4EA3BA-8AFE-7B6D-8B11-921489DBC81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19800" y="2321835"/>
            <a:ext cx="1283587" cy="8507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triangle" w="med" len="med"/>
          </a:ln>
          <a:effectLst/>
        </p:spPr>
      </p:cxnSp>
      <p:pic>
        <p:nvPicPr>
          <p:cNvPr id="1026" name="Picture 2" descr="Download Abacus Cog Graphic - Gear Icon Gif - Full Size PNG Image - PNGkit">
            <a:extLst>
              <a:ext uri="{FF2B5EF4-FFF2-40B4-BE49-F238E27FC236}">
                <a16:creationId xmlns:a16="http://schemas.microsoft.com/office/drawing/2014/main" id="{15F4F694-218D-34AF-83A5-E79342BD3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998" y="2662444"/>
            <a:ext cx="396889" cy="23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8DCB15-9125-5472-D801-0E835EC46698}"/>
              </a:ext>
            </a:extLst>
          </p:cNvPr>
          <p:cNvSpPr txBox="1"/>
          <p:nvPr/>
        </p:nvSpPr>
        <p:spPr>
          <a:xfrm>
            <a:off x="609600" y="2200779"/>
            <a:ext cx="1055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Randomizing</a:t>
            </a:r>
          </a:p>
          <a:p>
            <a:pPr algn="ctr"/>
            <a:r>
              <a:rPr lang="en-US" sz="1200" dirty="0"/>
              <a:t>Service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84D895-04D1-3D74-5B14-9EBCABEEE368}"/>
              </a:ext>
            </a:extLst>
          </p:cNvPr>
          <p:cNvSpPr txBox="1"/>
          <p:nvPr/>
        </p:nvSpPr>
        <p:spPr>
          <a:xfrm>
            <a:off x="7370844" y="4028819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45" name="Bent Arrow 44">
            <a:extLst>
              <a:ext uri="{FF2B5EF4-FFF2-40B4-BE49-F238E27FC236}">
                <a16:creationId xmlns:a16="http://schemas.microsoft.com/office/drawing/2014/main" id="{279C9CF0-8239-4484-16E7-8A35AD26AD82}"/>
              </a:ext>
            </a:extLst>
          </p:cNvPr>
          <p:cNvSpPr/>
          <p:nvPr/>
        </p:nvSpPr>
        <p:spPr bwMode="auto">
          <a:xfrm rot="5400000">
            <a:off x="2617773" y="1824805"/>
            <a:ext cx="608961" cy="2057400"/>
          </a:xfrm>
          <a:prstGeom prst="bentArrow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5C1D021-30A2-ED4F-5B86-81C998CDF061}"/>
              </a:ext>
            </a:extLst>
          </p:cNvPr>
          <p:cNvSpPr/>
          <p:nvPr/>
        </p:nvSpPr>
        <p:spPr bwMode="auto">
          <a:xfrm rot="5400000">
            <a:off x="8332454" y="4230023"/>
            <a:ext cx="228600" cy="106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0F6CC-1A7A-B68A-A38B-4F84554A2D5B}"/>
              </a:ext>
            </a:extLst>
          </p:cNvPr>
          <p:cNvSpPr txBox="1"/>
          <p:nvPr/>
        </p:nvSpPr>
        <p:spPr>
          <a:xfrm>
            <a:off x="7984887" y="4903040"/>
            <a:ext cx="943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/>
              <a:t>Finalization</a:t>
            </a:r>
          </a:p>
          <a:p>
            <a:pPr algn="ctr"/>
            <a:r>
              <a:rPr lang="en-US" sz="1200" i="1" dirty="0"/>
              <a:t>Phase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6CCDC3-CC4D-F060-D1FB-8EA1EC701711}"/>
              </a:ext>
            </a:extLst>
          </p:cNvPr>
          <p:cNvCxnSpPr>
            <a:cxnSpLocks/>
          </p:cNvCxnSpPr>
          <p:nvPr/>
        </p:nvCxnSpPr>
        <p:spPr bwMode="auto">
          <a:xfrm>
            <a:off x="793226" y="4547355"/>
            <a:ext cx="9426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21CE06-C765-21EB-A8C4-CAF8530BBB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082676" y="4553456"/>
            <a:ext cx="4119047" cy="2146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79411CA-7802-5730-63D9-9C4BAAB3EDC4}"/>
              </a:ext>
            </a:extLst>
          </p:cNvPr>
          <p:cNvGrpSpPr/>
          <p:nvPr/>
        </p:nvGrpSpPr>
        <p:grpSpPr>
          <a:xfrm>
            <a:off x="6904138" y="3967051"/>
            <a:ext cx="399616" cy="224872"/>
            <a:chOff x="6839384" y="2932597"/>
            <a:chExt cx="399616" cy="224872"/>
          </a:xfrm>
        </p:grpSpPr>
        <p:sp>
          <p:nvSpPr>
            <p:cNvPr id="58" name="Right Brace 57">
              <a:extLst>
                <a:ext uri="{FF2B5EF4-FFF2-40B4-BE49-F238E27FC236}">
                  <a16:creationId xmlns:a16="http://schemas.microsoft.com/office/drawing/2014/main" id="{9DB68DDB-7B49-025B-5117-62385C5E4FA7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2AC6E3D4-6AC9-CE7F-F739-0486B1686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FCBBD49-3550-C38B-E183-3953EC04EA88}"/>
              </a:ext>
            </a:extLst>
          </p:cNvPr>
          <p:cNvGrpSpPr/>
          <p:nvPr/>
        </p:nvGrpSpPr>
        <p:grpSpPr>
          <a:xfrm>
            <a:off x="6389354" y="3967051"/>
            <a:ext cx="399616" cy="224872"/>
            <a:chOff x="6839384" y="2932597"/>
            <a:chExt cx="399616" cy="224872"/>
          </a:xfrm>
        </p:grpSpPr>
        <p:sp>
          <p:nvSpPr>
            <p:cNvPr id="63" name="Right Brace 62">
              <a:extLst>
                <a:ext uri="{FF2B5EF4-FFF2-40B4-BE49-F238E27FC236}">
                  <a16:creationId xmlns:a16="http://schemas.microsoft.com/office/drawing/2014/main" id="{FA0997FF-72C7-1627-7353-1D8BCD6403F9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66146E2A-C40D-0479-38C6-BBEACF1DD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371210-C2D0-16D3-D0B1-B0436E5D4FA9}"/>
              </a:ext>
            </a:extLst>
          </p:cNvPr>
          <p:cNvGrpSpPr/>
          <p:nvPr/>
        </p:nvGrpSpPr>
        <p:grpSpPr>
          <a:xfrm>
            <a:off x="5913538" y="3963323"/>
            <a:ext cx="399616" cy="224872"/>
            <a:chOff x="6839384" y="2932597"/>
            <a:chExt cx="399616" cy="224872"/>
          </a:xfrm>
        </p:grpSpPr>
        <p:sp>
          <p:nvSpPr>
            <p:cNvPr id="130" name="Right Brace 129">
              <a:extLst>
                <a:ext uri="{FF2B5EF4-FFF2-40B4-BE49-F238E27FC236}">
                  <a16:creationId xmlns:a16="http://schemas.microsoft.com/office/drawing/2014/main" id="{6821E4EA-45B9-2521-C3F0-0214CF961B92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08D54FD3-74D8-D415-D50C-841EACF2F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7D1799C-8C95-DEFB-A470-E9FA3C86B06E}"/>
              </a:ext>
            </a:extLst>
          </p:cNvPr>
          <p:cNvGrpSpPr/>
          <p:nvPr/>
        </p:nvGrpSpPr>
        <p:grpSpPr>
          <a:xfrm>
            <a:off x="5398754" y="3963323"/>
            <a:ext cx="399616" cy="224872"/>
            <a:chOff x="6839384" y="2932597"/>
            <a:chExt cx="399616" cy="224872"/>
          </a:xfrm>
        </p:grpSpPr>
        <p:sp>
          <p:nvSpPr>
            <p:cNvPr id="133" name="Right Brace 132">
              <a:extLst>
                <a:ext uri="{FF2B5EF4-FFF2-40B4-BE49-F238E27FC236}">
                  <a16:creationId xmlns:a16="http://schemas.microsoft.com/office/drawing/2014/main" id="{8A6CDEB3-C71C-F64D-71C1-FF468C9C1664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AAE8953C-64C0-C6A4-09E7-E0FD4047C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E2C4D33-D25A-B2A6-EE94-941417CE57A5}"/>
              </a:ext>
            </a:extLst>
          </p:cNvPr>
          <p:cNvGrpSpPr/>
          <p:nvPr/>
        </p:nvGrpSpPr>
        <p:grpSpPr>
          <a:xfrm>
            <a:off x="4941554" y="3967051"/>
            <a:ext cx="399616" cy="224872"/>
            <a:chOff x="6839384" y="2932597"/>
            <a:chExt cx="399616" cy="224872"/>
          </a:xfrm>
        </p:grpSpPr>
        <p:sp>
          <p:nvSpPr>
            <p:cNvPr id="136" name="Right Brace 135">
              <a:extLst>
                <a:ext uri="{FF2B5EF4-FFF2-40B4-BE49-F238E27FC236}">
                  <a16:creationId xmlns:a16="http://schemas.microsoft.com/office/drawing/2014/main" id="{9B4BF4F7-090A-2BA0-54BC-9A1E13447C9F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51EC9125-6077-CEA2-4665-A36DA08C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90D8CA9-F74B-2DEC-DF70-BBB32CE41D02}"/>
              </a:ext>
            </a:extLst>
          </p:cNvPr>
          <p:cNvGrpSpPr/>
          <p:nvPr/>
        </p:nvGrpSpPr>
        <p:grpSpPr>
          <a:xfrm>
            <a:off x="4408154" y="3967051"/>
            <a:ext cx="399616" cy="224872"/>
            <a:chOff x="6839384" y="2932597"/>
            <a:chExt cx="399616" cy="224872"/>
          </a:xfrm>
        </p:grpSpPr>
        <p:sp>
          <p:nvSpPr>
            <p:cNvPr id="139" name="Right Brace 138">
              <a:extLst>
                <a:ext uri="{FF2B5EF4-FFF2-40B4-BE49-F238E27FC236}">
                  <a16:creationId xmlns:a16="http://schemas.microsoft.com/office/drawing/2014/main" id="{0D4494BA-9C5D-8200-3134-767BEC31F7A8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71A18BA6-A8DE-6D7A-7DD3-D91B35E16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C575E83-C57B-5A6C-86C4-B4515BF371E4}"/>
              </a:ext>
            </a:extLst>
          </p:cNvPr>
          <p:cNvGrpSpPr/>
          <p:nvPr/>
        </p:nvGrpSpPr>
        <p:grpSpPr>
          <a:xfrm>
            <a:off x="3932338" y="3967051"/>
            <a:ext cx="399616" cy="224872"/>
            <a:chOff x="6839384" y="2932597"/>
            <a:chExt cx="399616" cy="224872"/>
          </a:xfrm>
        </p:grpSpPr>
        <p:sp>
          <p:nvSpPr>
            <p:cNvPr id="142" name="Right Brace 141">
              <a:extLst>
                <a:ext uri="{FF2B5EF4-FFF2-40B4-BE49-F238E27FC236}">
                  <a16:creationId xmlns:a16="http://schemas.microsoft.com/office/drawing/2014/main" id="{A91C348E-6DA4-90F6-2070-A7CCEA23C0FE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332CC011-0799-870D-21DE-BFE55DB1C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DCD828B-A4D4-37A1-051B-A70BCE6E6EA2}"/>
              </a:ext>
            </a:extLst>
          </p:cNvPr>
          <p:cNvGrpSpPr/>
          <p:nvPr/>
        </p:nvGrpSpPr>
        <p:grpSpPr>
          <a:xfrm>
            <a:off x="3417554" y="3963323"/>
            <a:ext cx="399616" cy="224872"/>
            <a:chOff x="6839384" y="2932597"/>
            <a:chExt cx="399616" cy="224872"/>
          </a:xfrm>
        </p:grpSpPr>
        <p:sp>
          <p:nvSpPr>
            <p:cNvPr id="145" name="Right Brace 144">
              <a:extLst>
                <a:ext uri="{FF2B5EF4-FFF2-40B4-BE49-F238E27FC236}">
                  <a16:creationId xmlns:a16="http://schemas.microsoft.com/office/drawing/2014/main" id="{20348C2B-F3FE-4048-E2CB-D7A96F281007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CD3DF4B8-567C-245A-B4E1-3AEFDC783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6DAB6AE-EA87-CF76-465F-761A0129DD82}"/>
              </a:ext>
            </a:extLst>
          </p:cNvPr>
          <p:cNvGrpSpPr/>
          <p:nvPr/>
        </p:nvGrpSpPr>
        <p:grpSpPr>
          <a:xfrm>
            <a:off x="2941738" y="3967051"/>
            <a:ext cx="399616" cy="224872"/>
            <a:chOff x="6839384" y="2932597"/>
            <a:chExt cx="399616" cy="224872"/>
          </a:xfrm>
        </p:grpSpPr>
        <p:sp>
          <p:nvSpPr>
            <p:cNvPr id="148" name="Right Brace 147">
              <a:extLst>
                <a:ext uri="{FF2B5EF4-FFF2-40B4-BE49-F238E27FC236}">
                  <a16:creationId xmlns:a16="http://schemas.microsoft.com/office/drawing/2014/main" id="{BA9416DD-CD99-8656-F1EC-CDD2711C7C14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31BEE119-6A84-15D7-B65D-A530FD232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E4A4B95-D1A1-2182-81BA-1D4620A93759}"/>
              </a:ext>
            </a:extLst>
          </p:cNvPr>
          <p:cNvGrpSpPr/>
          <p:nvPr/>
        </p:nvGrpSpPr>
        <p:grpSpPr>
          <a:xfrm>
            <a:off x="2086941" y="3967051"/>
            <a:ext cx="399616" cy="224872"/>
            <a:chOff x="6839384" y="2932597"/>
            <a:chExt cx="399616" cy="224872"/>
          </a:xfrm>
        </p:grpSpPr>
        <p:sp>
          <p:nvSpPr>
            <p:cNvPr id="154" name="Right Brace 153">
              <a:extLst>
                <a:ext uri="{FF2B5EF4-FFF2-40B4-BE49-F238E27FC236}">
                  <a16:creationId xmlns:a16="http://schemas.microsoft.com/office/drawing/2014/main" id="{12FABF6B-3819-8D23-32F9-1A3BAD0C650E}"/>
                </a:ext>
              </a:extLst>
            </p:cNvPr>
            <p:cNvSpPr/>
            <p:nvPr/>
          </p:nvSpPr>
          <p:spPr bwMode="auto">
            <a:xfrm rot="16200000">
              <a:off x="6989600" y="2908434"/>
              <a:ext cx="111050" cy="387019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17F156FD-D541-8818-F9B0-FF2B6551F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384" y="2932597"/>
              <a:ext cx="399616" cy="799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6CE8C8-8A94-6036-3BED-D40E57DF0177}"/>
              </a:ext>
            </a:extLst>
          </p:cNvPr>
          <p:cNvCxnSpPr>
            <a:cxnSpLocks/>
          </p:cNvCxnSpPr>
          <p:nvPr/>
        </p:nvCxnSpPr>
        <p:spPr bwMode="auto">
          <a:xfrm flipV="1">
            <a:off x="2039728" y="4551182"/>
            <a:ext cx="627762" cy="1120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C85025B-8775-A64E-738D-067577DF37E4}"/>
              </a:ext>
            </a:extLst>
          </p:cNvPr>
          <p:cNvSpPr txBox="1"/>
          <p:nvPr/>
        </p:nvSpPr>
        <p:spPr>
          <a:xfrm>
            <a:off x="2512556" y="4040250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464A47F9-6252-6E1E-48A2-AE64A3443142}"/>
              </a:ext>
            </a:extLst>
          </p:cNvPr>
          <p:cNvGrpSpPr/>
          <p:nvPr/>
        </p:nvGrpSpPr>
        <p:grpSpPr>
          <a:xfrm>
            <a:off x="1148493" y="4453059"/>
            <a:ext cx="1669452" cy="1886094"/>
            <a:chOff x="1148493" y="4453059"/>
            <a:chExt cx="1669452" cy="1886094"/>
          </a:xfrm>
        </p:grpSpPr>
        <p:sp>
          <p:nvSpPr>
            <p:cNvPr id="1025" name="Text Box 43">
              <a:extLst>
                <a:ext uri="{FF2B5EF4-FFF2-40B4-BE49-F238E27FC236}">
                  <a16:creationId xmlns:a16="http://schemas.microsoft.com/office/drawing/2014/main" id="{BFF56DC2-F88F-4653-B367-B5A62D34C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493" y="5385046"/>
              <a:ext cx="1251077" cy="95410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Run until system has cycled a few times</a:t>
              </a:r>
              <a:endParaRPr lang="en-US" sz="1400" dirty="0">
                <a:latin typeface="Tahoma" pitchFamily="-84" charset="0"/>
              </a:endParaRPr>
            </a:p>
          </p:txBody>
        </p:sp>
        <p:sp>
          <p:nvSpPr>
            <p:cNvPr id="1027" name="Line 44">
              <a:extLst>
                <a:ext uri="{FF2B5EF4-FFF2-40B4-BE49-F238E27FC236}">
                  <a16:creationId xmlns:a16="http://schemas.microsoft.com/office/drawing/2014/main" id="{D2E8E4E1-1D59-5578-519A-FADFDEEF96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9857" y="4453059"/>
              <a:ext cx="598088" cy="8427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02EAF4A0-7479-9250-C230-0C12EF7B29F8}"/>
              </a:ext>
            </a:extLst>
          </p:cNvPr>
          <p:cNvSpPr txBox="1"/>
          <p:nvPr/>
        </p:nvSpPr>
        <p:spPr>
          <a:xfrm rot="16200000">
            <a:off x="2663480" y="5682176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 err="1"/>
              <a:t>Hyperperiod</a:t>
            </a:r>
            <a:endParaRPr lang="en-US" sz="1200" i="1" dirty="0"/>
          </a:p>
          <a:p>
            <a:pPr algn="ctr"/>
            <a:r>
              <a:rPr lang="en-US" sz="1200" i="1" dirty="0"/>
              <a:t>Boundary</a:t>
            </a:r>
          </a:p>
        </p:txBody>
      </p: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5D01C6D3-638E-CC1B-3C9C-180BA0630FA8}"/>
              </a:ext>
            </a:extLst>
          </p:cNvPr>
          <p:cNvCxnSpPr>
            <a:cxnSpLocks/>
          </p:cNvCxnSpPr>
          <p:nvPr/>
        </p:nvCxnSpPr>
        <p:spPr bwMode="auto">
          <a:xfrm>
            <a:off x="2922253" y="4231001"/>
            <a:ext cx="0" cy="220099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CA381F57-3528-E123-B1D1-69D614109602}"/>
              </a:ext>
            </a:extLst>
          </p:cNvPr>
          <p:cNvGrpSpPr/>
          <p:nvPr/>
        </p:nvGrpSpPr>
        <p:grpSpPr>
          <a:xfrm>
            <a:off x="3611128" y="3868370"/>
            <a:ext cx="1670252" cy="2718714"/>
            <a:chOff x="3611128" y="3868370"/>
            <a:chExt cx="1670252" cy="2718714"/>
          </a:xfrm>
        </p:grpSpPr>
        <p:sp>
          <p:nvSpPr>
            <p:cNvPr id="1033" name="Text Box 43">
              <a:extLst>
                <a:ext uri="{FF2B5EF4-FFF2-40B4-BE49-F238E27FC236}">
                  <a16:creationId xmlns:a16="http://schemas.microsoft.com/office/drawing/2014/main" id="{39ECDA33-902D-E2C0-9ED6-7DA43F9EF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1128" y="5417533"/>
              <a:ext cx="1670252" cy="116955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Inject random port values for  </a:t>
              </a:r>
              <a:r>
                <a:rPr lang="en-US" sz="1400" b="1" i="1" dirty="0">
                  <a:latin typeface="Tahoma" pitchFamily="-84" charset="0"/>
                </a:rPr>
                <a:t>In</a:t>
              </a:r>
              <a:r>
                <a:rPr lang="en-US" sz="1400" i="1" dirty="0">
                  <a:latin typeface="Tahoma" pitchFamily="-84" charset="0"/>
                </a:rPr>
                <a:t> vector satisfying range/filter constraints</a:t>
              </a:r>
              <a:endParaRPr lang="en-US" sz="1400" dirty="0">
                <a:latin typeface="Tahoma" pitchFamily="-84" charset="0"/>
              </a:endParaRPr>
            </a:p>
          </p:txBody>
        </p:sp>
        <p:sp>
          <p:nvSpPr>
            <p:cNvPr id="1034" name="Line 44">
              <a:extLst>
                <a:ext uri="{FF2B5EF4-FFF2-40B4-BE49-F238E27FC236}">
                  <a16:creationId xmlns:a16="http://schemas.microsoft.com/office/drawing/2014/main" id="{BCBD6343-5C74-E635-87B7-AE6648415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62338" y="3868370"/>
              <a:ext cx="812125" cy="1549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FAD63F8-1409-57E5-9463-7C568BE52005}"/>
              </a:ext>
            </a:extLst>
          </p:cNvPr>
          <p:cNvSpPr txBox="1"/>
          <p:nvPr/>
        </p:nvSpPr>
        <p:spPr>
          <a:xfrm rot="16200000">
            <a:off x="7186456" y="5650977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 err="1"/>
              <a:t>Hyperperiod</a:t>
            </a:r>
            <a:endParaRPr lang="en-US" sz="1200" i="1" dirty="0"/>
          </a:p>
          <a:p>
            <a:pPr algn="ctr"/>
            <a:r>
              <a:rPr lang="en-US" sz="1200" i="1" dirty="0"/>
              <a:t>Boundary</a:t>
            </a: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EDA46172-7392-5778-8C2F-F4D0907D30B8}"/>
              </a:ext>
            </a:extLst>
          </p:cNvPr>
          <p:cNvCxnSpPr>
            <a:cxnSpLocks/>
          </p:cNvCxnSpPr>
          <p:nvPr/>
        </p:nvCxnSpPr>
        <p:spPr bwMode="auto">
          <a:xfrm>
            <a:off x="7445229" y="4199802"/>
            <a:ext cx="0" cy="220099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0CF9CDF4-15E5-0698-5B0F-965F124EB9EE}"/>
              </a:ext>
            </a:extLst>
          </p:cNvPr>
          <p:cNvGrpSpPr/>
          <p:nvPr/>
        </p:nvGrpSpPr>
        <p:grpSpPr>
          <a:xfrm>
            <a:off x="5823336" y="4404219"/>
            <a:ext cx="1530747" cy="2192854"/>
            <a:chOff x="5823336" y="4404219"/>
            <a:chExt cx="1530747" cy="2192854"/>
          </a:xfrm>
        </p:grpSpPr>
        <p:sp>
          <p:nvSpPr>
            <p:cNvPr id="1037" name="Text Box 43">
              <a:extLst>
                <a:ext uri="{FF2B5EF4-FFF2-40B4-BE49-F238E27FC236}">
                  <a16:creationId xmlns:a16="http://schemas.microsoft.com/office/drawing/2014/main" id="{32EE6668-FE13-5F2D-07A3-D09FB48C1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336" y="5858409"/>
              <a:ext cx="1326859" cy="7386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Observer port values for  </a:t>
              </a:r>
              <a:r>
                <a:rPr lang="en-US" sz="1400" b="1" i="1" dirty="0">
                  <a:latin typeface="Tahoma" pitchFamily="-84" charset="0"/>
                </a:rPr>
                <a:t>Out</a:t>
              </a:r>
              <a:r>
                <a:rPr lang="en-US" sz="1400" i="1" dirty="0">
                  <a:latin typeface="Tahoma" pitchFamily="-84" charset="0"/>
                </a:rPr>
                <a:t> vector</a:t>
              </a:r>
              <a:endParaRPr lang="en-US" sz="1400" dirty="0">
                <a:latin typeface="Tahoma" pitchFamily="-84" charset="0"/>
              </a:endParaRPr>
            </a:p>
          </p:txBody>
        </p:sp>
        <p:sp>
          <p:nvSpPr>
            <p:cNvPr id="1038" name="Line 44">
              <a:extLst>
                <a:ext uri="{FF2B5EF4-FFF2-40B4-BE49-F238E27FC236}">
                  <a16:creationId xmlns:a16="http://schemas.microsoft.com/office/drawing/2014/main" id="{21A96432-A54B-B363-3EB3-0C0B8CCA01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3488" y="4404219"/>
              <a:ext cx="250595" cy="13742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B2443F87-965A-E82C-0A44-F70ED62B25F6}"/>
              </a:ext>
            </a:extLst>
          </p:cNvPr>
          <p:cNvGrpSpPr/>
          <p:nvPr/>
        </p:nvGrpSpPr>
        <p:grpSpPr>
          <a:xfrm>
            <a:off x="2960354" y="4569097"/>
            <a:ext cx="1279170" cy="785245"/>
            <a:chOff x="2960354" y="4569097"/>
            <a:chExt cx="1279170" cy="785245"/>
          </a:xfrm>
        </p:grpSpPr>
        <p:sp>
          <p:nvSpPr>
            <p:cNvPr id="1039" name="Text Box 43">
              <a:extLst>
                <a:ext uri="{FF2B5EF4-FFF2-40B4-BE49-F238E27FC236}">
                  <a16:creationId xmlns:a16="http://schemas.microsoft.com/office/drawing/2014/main" id="{174CE043-661A-6E44-4A82-0C9DF35BB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0354" y="4831122"/>
              <a:ext cx="1279170" cy="5232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Step past input tasks</a:t>
              </a:r>
              <a:endParaRPr lang="en-US" sz="1400" dirty="0">
                <a:latin typeface="Tahoma" pitchFamily="-84" charset="0"/>
              </a:endParaRPr>
            </a:p>
          </p:txBody>
        </p:sp>
        <p:sp>
          <p:nvSpPr>
            <p:cNvPr id="1040" name="Line 44">
              <a:extLst>
                <a:ext uri="{FF2B5EF4-FFF2-40B4-BE49-F238E27FC236}">
                  <a16:creationId xmlns:a16="http://schemas.microsoft.com/office/drawing/2014/main" id="{1294BA62-F3AB-2896-3B1C-667FF8A169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785" y="4569097"/>
              <a:ext cx="78198" cy="2620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DFE168E9-8F02-044B-85C0-0E853B2F68DF}"/>
              </a:ext>
            </a:extLst>
          </p:cNvPr>
          <p:cNvGrpSpPr/>
          <p:nvPr/>
        </p:nvGrpSpPr>
        <p:grpSpPr>
          <a:xfrm>
            <a:off x="5565059" y="4459600"/>
            <a:ext cx="1685387" cy="1086691"/>
            <a:chOff x="5565059" y="4459600"/>
            <a:chExt cx="1685387" cy="1086691"/>
          </a:xfrm>
        </p:grpSpPr>
        <p:sp>
          <p:nvSpPr>
            <p:cNvPr id="1041" name="Text Box 43">
              <a:extLst>
                <a:ext uri="{FF2B5EF4-FFF2-40B4-BE49-F238E27FC236}">
                  <a16:creationId xmlns:a16="http://schemas.microsoft.com/office/drawing/2014/main" id="{401F0012-B289-C07D-5423-4E8A3FD66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5059" y="5023071"/>
              <a:ext cx="1437639" cy="5232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i="1" dirty="0">
                  <a:latin typeface="Tahoma" pitchFamily="-84" charset="0"/>
                </a:rPr>
                <a:t>Step to end of </a:t>
              </a:r>
              <a:r>
                <a:rPr lang="en-US" sz="1400" i="1" dirty="0" err="1">
                  <a:latin typeface="Tahoma" pitchFamily="-84" charset="0"/>
                </a:rPr>
                <a:t>hyperperiod</a:t>
              </a:r>
              <a:endParaRPr lang="en-US" sz="1400" dirty="0">
                <a:latin typeface="Tahoma" pitchFamily="-84" charset="0"/>
              </a:endParaRPr>
            </a:p>
          </p:txBody>
        </p:sp>
        <p:sp>
          <p:nvSpPr>
            <p:cNvPr id="1042" name="Line 44">
              <a:extLst>
                <a:ext uri="{FF2B5EF4-FFF2-40B4-BE49-F238E27FC236}">
                  <a16:creationId xmlns:a16="http://schemas.microsoft.com/office/drawing/2014/main" id="{9C1A5622-B3B0-8C77-131C-9BBBFDA90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6230" y="4459600"/>
              <a:ext cx="334216" cy="56346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043" name="Text Box 43">
            <a:extLst>
              <a:ext uri="{FF2B5EF4-FFF2-40B4-BE49-F238E27FC236}">
                <a16:creationId xmlns:a16="http://schemas.microsoft.com/office/drawing/2014/main" id="{39CFCEF3-2F33-11FD-8FED-4FA25D166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678" y="1488410"/>
            <a:ext cx="1552322" cy="7386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400" i="1" dirty="0">
                <a:latin typeface="Tahoma" pitchFamily="-84" charset="0"/>
              </a:rPr>
              <a:t>Check property on </a:t>
            </a:r>
            <a:r>
              <a:rPr lang="en-US" sz="1400" b="1" i="1" dirty="0">
                <a:latin typeface="Tahoma" pitchFamily="-84" charset="0"/>
              </a:rPr>
              <a:t>In</a:t>
            </a:r>
            <a:r>
              <a:rPr lang="en-US" sz="1400" i="1" dirty="0">
                <a:latin typeface="Tahoma" pitchFamily="-84" charset="0"/>
              </a:rPr>
              <a:t> and </a:t>
            </a:r>
            <a:r>
              <a:rPr lang="en-US" sz="1400" b="1" i="1" dirty="0">
                <a:latin typeface="Tahoma" pitchFamily="-84" charset="0"/>
              </a:rPr>
              <a:t>Out</a:t>
            </a:r>
            <a:r>
              <a:rPr lang="en-US" sz="1400" i="1" dirty="0">
                <a:latin typeface="Tahoma" pitchFamily="-84" charset="0"/>
              </a:rPr>
              <a:t> vectors</a:t>
            </a:r>
            <a:endParaRPr lang="en-US" sz="1400" dirty="0">
              <a:latin typeface="Tahom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13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AB3A-4CB9-34CA-A8C9-680A0D4C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Testing/Debugging API for </a:t>
            </a:r>
            <a:br>
              <a:rPr lang="en-US" sz="3600" dirty="0"/>
            </a:br>
            <a:r>
              <a:rPr lang="en-US" sz="3600" dirty="0"/>
              <a:t>Schedule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046CB3-FC67-D9D9-0E41-57F2D284E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07331CB-CA10-71A6-A9AC-337AA16DF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06" y="1230120"/>
            <a:ext cx="7836788" cy="646331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HAMR provides APIs that allow debugging and testing tools to directly advance the scheduling at different increments…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AF328-F326-EE6C-143D-C821FF8ADCE9}"/>
              </a:ext>
            </a:extLst>
          </p:cNvPr>
          <p:cNvSpPr txBox="1"/>
          <p:nvPr/>
        </p:nvSpPr>
        <p:spPr>
          <a:xfrm>
            <a:off x="1097280" y="2328672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effectLst/>
                <a:latin typeface="+mn-lt"/>
              </a:rPr>
              <a:t>Sstep</a:t>
            </a:r>
            <a:r>
              <a:rPr lang="en-US" sz="1800" b="1" dirty="0">
                <a:effectLst/>
                <a:latin typeface="+mn-lt"/>
              </a:rPr>
              <a:t>(</a:t>
            </a:r>
            <a:r>
              <a:rPr lang="en-US" sz="1800" i="1" dirty="0" err="1">
                <a:effectLst/>
                <a:latin typeface="+mn-lt"/>
              </a:rPr>
              <a:t>numSteps</a:t>
            </a:r>
            <a:r>
              <a:rPr lang="en-US" sz="1800" b="1" dirty="0">
                <a:effectLst/>
                <a:latin typeface="+mn-lt"/>
              </a:rPr>
              <a:t>) </a:t>
            </a:r>
            <a:endParaRPr lang="en-US" sz="1800" b="1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A39B7-47E2-B68C-FECD-322A1C8A6AFB}"/>
              </a:ext>
            </a:extLst>
          </p:cNvPr>
          <p:cNvSpPr txBox="1"/>
          <p:nvPr/>
        </p:nvSpPr>
        <p:spPr>
          <a:xfrm>
            <a:off x="1097280" y="3122548"/>
            <a:ext cx="292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latin typeface="+mn-lt"/>
              </a:rPr>
              <a:t>H</a:t>
            </a:r>
            <a:r>
              <a:rPr lang="en-US" sz="1800" b="1" dirty="0" err="1">
                <a:effectLst/>
                <a:latin typeface="+mn-lt"/>
              </a:rPr>
              <a:t>step</a:t>
            </a:r>
            <a:r>
              <a:rPr lang="en-US" sz="1800" b="1" dirty="0">
                <a:effectLst/>
                <a:latin typeface="+mn-lt"/>
              </a:rPr>
              <a:t>(</a:t>
            </a:r>
            <a:r>
              <a:rPr lang="en-US" sz="1800" i="1" dirty="0" err="1">
                <a:effectLst/>
                <a:latin typeface="+mn-lt"/>
              </a:rPr>
              <a:t>numHyperPeriods</a:t>
            </a:r>
            <a:r>
              <a:rPr lang="en-US" sz="1800" b="1" dirty="0">
                <a:effectLst/>
                <a:latin typeface="+mn-lt"/>
              </a:rPr>
              <a:t>) </a:t>
            </a:r>
            <a:endParaRPr lang="en-US" sz="18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85B97-9348-B52F-5A41-03091FE0A0A4}"/>
              </a:ext>
            </a:extLst>
          </p:cNvPr>
          <p:cNvSpPr txBox="1"/>
          <p:nvPr/>
        </p:nvSpPr>
        <p:spPr>
          <a:xfrm>
            <a:off x="1097280" y="3916424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latin typeface="+mn-lt"/>
              </a:rPr>
              <a:t>RunToSlot</a:t>
            </a:r>
            <a:r>
              <a:rPr lang="en-US" sz="1800" b="1" dirty="0">
                <a:effectLst/>
                <a:latin typeface="+mn-lt"/>
              </a:rPr>
              <a:t>(</a:t>
            </a:r>
            <a:r>
              <a:rPr lang="en-US" sz="1800" i="1" dirty="0" err="1">
                <a:effectLst/>
                <a:latin typeface="+mn-lt"/>
              </a:rPr>
              <a:t>slotNum</a:t>
            </a:r>
            <a:r>
              <a:rPr lang="en-US" sz="1800" b="1" dirty="0">
                <a:effectLst/>
                <a:latin typeface="+mn-lt"/>
              </a:rPr>
              <a:t>) </a:t>
            </a:r>
            <a:endParaRPr lang="en-US" sz="18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757A4-F17B-9771-3D55-7ABC042E6E11}"/>
              </a:ext>
            </a:extLst>
          </p:cNvPr>
          <p:cNvSpPr txBox="1"/>
          <p:nvPr/>
        </p:nvSpPr>
        <p:spPr>
          <a:xfrm>
            <a:off x="1097280" y="544321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latin typeface="+mn-lt"/>
              </a:rPr>
              <a:t>RunToHP</a:t>
            </a:r>
            <a:r>
              <a:rPr lang="en-US" sz="1800" b="1" dirty="0">
                <a:effectLst/>
                <a:latin typeface="+mn-lt"/>
              </a:rPr>
              <a:t>(</a:t>
            </a:r>
            <a:r>
              <a:rPr lang="en-US" sz="1800" i="1" dirty="0" err="1">
                <a:effectLst/>
                <a:latin typeface="+mn-lt"/>
              </a:rPr>
              <a:t>HPNum</a:t>
            </a:r>
            <a:r>
              <a:rPr lang="en-US" sz="1800" b="1" dirty="0">
                <a:effectLst/>
                <a:latin typeface="+mn-lt"/>
              </a:rPr>
              <a:t>) </a:t>
            </a:r>
            <a:endParaRPr lang="en-US" sz="1800" b="1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BCDA8-B146-81E3-4394-B6050C350262}"/>
              </a:ext>
            </a:extLst>
          </p:cNvPr>
          <p:cNvSpPr txBox="1"/>
          <p:nvPr/>
        </p:nvSpPr>
        <p:spPr>
          <a:xfrm>
            <a:off x="1097280" y="4710300"/>
            <a:ext cx="2919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latin typeface="+mn-lt"/>
              </a:rPr>
              <a:t>RunToThread</a:t>
            </a:r>
            <a:r>
              <a:rPr lang="en-US" sz="1800" b="1" dirty="0">
                <a:effectLst/>
                <a:latin typeface="+mn-lt"/>
              </a:rPr>
              <a:t>(</a:t>
            </a:r>
            <a:r>
              <a:rPr lang="en-US" sz="1800" i="1" dirty="0" err="1">
                <a:effectLst/>
                <a:latin typeface="+mn-lt"/>
              </a:rPr>
              <a:t>threadID</a:t>
            </a:r>
            <a:r>
              <a:rPr lang="en-US" sz="1800" b="1" dirty="0">
                <a:effectLst/>
                <a:latin typeface="+mn-lt"/>
              </a:rPr>
              <a:t>) </a:t>
            </a:r>
            <a:endParaRPr lang="en-US" sz="18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F5F30-757F-11AB-70AA-BCDF4D037C33}"/>
              </a:ext>
            </a:extLst>
          </p:cNvPr>
          <p:cNvSpPr txBox="1"/>
          <p:nvPr/>
        </p:nvSpPr>
        <p:spPr>
          <a:xfrm>
            <a:off x="4063162" y="2401232"/>
            <a:ext cx="4623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Advance </a:t>
            </a:r>
            <a:r>
              <a:rPr lang="en-US" sz="1400" i="1" dirty="0" err="1"/>
              <a:t>numSteps</a:t>
            </a:r>
            <a:r>
              <a:rPr lang="en-US" sz="1400" dirty="0"/>
              <a:t> slots in schedule (wrap if necessary)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5850A9-483C-634E-1C90-D1C7ED5BBFA0}"/>
              </a:ext>
            </a:extLst>
          </p:cNvPr>
          <p:cNvSpPr txBox="1"/>
          <p:nvPr/>
        </p:nvSpPr>
        <p:spPr>
          <a:xfrm>
            <a:off x="4063163" y="3133415"/>
            <a:ext cx="4427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Advance </a:t>
            </a:r>
            <a:r>
              <a:rPr lang="en-US" sz="1400" i="1" dirty="0" err="1"/>
              <a:t>numHyperPeriods</a:t>
            </a:r>
            <a:r>
              <a:rPr lang="en-US" sz="1400" dirty="0"/>
              <a:t> slots in schedule, stopping at </a:t>
            </a:r>
            <a:r>
              <a:rPr lang="en-US" sz="1400" dirty="0" err="1"/>
              <a:t>hyperperiod</a:t>
            </a:r>
            <a:r>
              <a:rPr lang="en-US" sz="1400" dirty="0"/>
              <a:t> boundary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CBA25-6F51-4D86-9EDE-0D7AB403AE0C}"/>
              </a:ext>
            </a:extLst>
          </p:cNvPr>
          <p:cNvSpPr txBox="1"/>
          <p:nvPr/>
        </p:nvSpPr>
        <p:spPr>
          <a:xfrm>
            <a:off x="4063162" y="3916424"/>
            <a:ext cx="4427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Advance to slot number </a:t>
            </a:r>
            <a:r>
              <a:rPr lang="en-US" sz="1400" i="1" dirty="0" err="1"/>
              <a:t>slotNum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3B42E-67D8-3D52-250E-C8D68F3574CA}"/>
              </a:ext>
            </a:extLst>
          </p:cNvPr>
          <p:cNvSpPr txBox="1"/>
          <p:nvPr/>
        </p:nvSpPr>
        <p:spPr>
          <a:xfrm>
            <a:off x="4063162" y="4710161"/>
            <a:ext cx="4427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Advance to slot associated with </a:t>
            </a:r>
            <a:r>
              <a:rPr lang="en-US" sz="1400" i="1" dirty="0" err="1"/>
              <a:t>threadID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B94EE-1512-809E-1468-E53D86CD5EA7}"/>
              </a:ext>
            </a:extLst>
          </p:cNvPr>
          <p:cNvSpPr txBox="1"/>
          <p:nvPr/>
        </p:nvSpPr>
        <p:spPr>
          <a:xfrm>
            <a:off x="4063162" y="5431616"/>
            <a:ext cx="4427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Advance to </a:t>
            </a:r>
            <a:r>
              <a:rPr lang="en-US" sz="1400" dirty="0" err="1"/>
              <a:t>hyperperiod</a:t>
            </a:r>
            <a:r>
              <a:rPr lang="en-US" sz="1400" dirty="0"/>
              <a:t> number </a:t>
            </a:r>
            <a:r>
              <a:rPr lang="en-US" sz="1400" i="1" dirty="0" err="1"/>
              <a:t>HPNum</a:t>
            </a:r>
            <a:endParaRPr lang="en-US" sz="140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6FCDAA0-7A43-929F-20CA-4080B40B7DAB}"/>
              </a:ext>
            </a:extLst>
          </p:cNvPr>
          <p:cNvSpPr/>
          <p:nvPr/>
        </p:nvSpPr>
        <p:spPr bwMode="auto">
          <a:xfrm>
            <a:off x="916106" y="2334320"/>
            <a:ext cx="242134" cy="1218521"/>
          </a:xfrm>
          <a:prstGeom prst="leftBrace">
            <a:avLst/>
          </a:prstGeom>
          <a:noFill/>
          <a:ln w="952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B5F79AFA-B20F-D5D1-41F2-D964D404E3E1}"/>
              </a:ext>
            </a:extLst>
          </p:cNvPr>
          <p:cNvSpPr/>
          <p:nvPr/>
        </p:nvSpPr>
        <p:spPr bwMode="auto">
          <a:xfrm>
            <a:off x="946586" y="3925376"/>
            <a:ext cx="242134" cy="1887170"/>
          </a:xfrm>
          <a:prstGeom prst="leftBrace">
            <a:avLst/>
          </a:prstGeom>
          <a:noFill/>
          <a:ln w="952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AEF0DD-EA27-1D9D-DBFC-D5F835EBAA60}"/>
              </a:ext>
            </a:extLst>
          </p:cNvPr>
          <p:cNvSpPr txBox="1"/>
          <p:nvPr/>
        </p:nvSpPr>
        <p:spPr>
          <a:xfrm rot="16200000">
            <a:off x="305295" y="2804510"/>
            <a:ext cx="842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relative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C23AF8-56D3-5F11-ADB4-2FB3B63BCCC4}"/>
              </a:ext>
            </a:extLst>
          </p:cNvPr>
          <p:cNvSpPr txBox="1"/>
          <p:nvPr/>
        </p:nvSpPr>
        <p:spPr>
          <a:xfrm rot="16200000">
            <a:off x="281239" y="4694772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absolute</a:t>
            </a:r>
          </a:p>
        </p:txBody>
      </p:sp>
    </p:spTree>
    <p:extLst>
      <p:ext uri="{BB962C8B-B14F-4D97-AF65-F5344CB8AC3E}">
        <p14:creationId xmlns:p14="http://schemas.microsoft.com/office/powerpoint/2010/main" val="232393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04BC5C-D3A6-524A-833A-65DBBAA4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0A299-E9F9-40C3-69D5-2B1282DB1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22399C2-1ADD-1549-9753-CEA7C1EED1B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64D0D-B6FC-58D9-54D7-56028BA5A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58858"/>
            <a:ext cx="7028235" cy="4417314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E7819FB4-F6AA-183A-CEA3-FFB31F39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06" y="1230120"/>
            <a:ext cx="7836788" cy="92333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Developers create testing scripts that </a:t>
            </a:r>
            <a:r>
              <a:rPr lang="en-US" sz="1800" i="1" dirty="0"/>
              <a:t>advance the schedule</a:t>
            </a:r>
            <a:r>
              <a:rPr lang="en-US" sz="1800" dirty="0"/>
              <a:t>, </a:t>
            </a:r>
            <a:r>
              <a:rPr lang="en-US" sz="1800" i="1" dirty="0"/>
              <a:t>inject randomized values</a:t>
            </a:r>
            <a:r>
              <a:rPr lang="en-US" sz="1800" dirty="0"/>
              <a:t>, </a:t>
            </a:r>
            <a:r>
              <a:rPr lang="en-US" sz="1800" i="1" dirty="0"/>
              <a:t>acquire observations</a:t>
            </a:r>
            <a:r>
              <a:rPr lang="en-US" sz="1800" dirty="0"/>
              <a:t> of system state, and </a:t>
            </a:r>
            <a:r>
              <a:rPr lang="en-US" sz="1800" i="1" dirty="0"/>
              <a:t>evaluate properties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4C91C4-BB79-8F15-A120-F87EE74BFB68}"/>
              </a:ext>
            </a:extLst>
          </p:cNvPr>
          <p:cNvGrpSpPr/>
          <p:nvPr/>
        </p:nvGrpSpPr>
        <p:grpSpPr>
          <a:xfrm>
            <a:off x="2549151" y="2971800"/>
            <a:ext cx="5850433" cy="862964"/>
            <a:chOff x="2549151" y="2971800"/>
            <a:chExt cx="5850433" cy="86296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24939CE-B1FF-2B55-FFE8-EE4C65639096}"/>
                </a:ext>
              </a:extLst>
            </p:cNvPr>
            <p:cNvGrpSpPr/>
            <p:nvPr/>
          </p:nvGrpSpPr>
          <p:grpSpPr>
            <a:xfrm>
              <a:off x="3886200" y="2971800"/>
              <a:ext cx="4513384" cy="687084"/>
              <a:chOff x="3962400" y="2954808"/>
              <a:chExt cx="4513384" cy="687084"/>
            </a:xfrm>
          </p:grpSpPr>
          <p:sp>
            <p:nvSpPr>
              <p:cNvPr id="14" name="Text Box 43">
                <a:extLst>
                  <a:ext uri="{FF2B5EF4-FFF2-40B4-BE49-F238E27FC236}">
                    <a16:creationId xmlns:a16="http://schemas.microsoft.com/office/drawing/2014/main" id="{6D74CCEA-B2BA-A611-1B73-990ED340D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00800" y="2954808"/>
                <a:ext cx="2074984" cy="52322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dirty="0">
                    <a:latin typeface="Tahoma" pitchFamily="-84" charset="0"/>
                  </a:rPr>
                  <a:t>Run several cycles to allow system to </a:t>
                </a:r>
                <a:r>
                  <a:rPr lang="en-US" sz="1400" dirty="0" err="1">
                    <a:latin typeface="Tahoma" pitchFamily="-84" charset="0"/>
                  </a:rPr>
                  <a:t>stablize</a:t>
                </a:r>
                <a:endParaRPr lang="en-US" sz="1400" dirty="0">
                  <a:latin typeface="Tahoma" pitchFamily="-84" charset="0"/>
                </a:endParaRPr>
              </a:p>
            </p:txBody>
          </p:sp>
          <p:sp>
            <p:nvSpPr>
              <p:cNvPr id="15" name="Line 44">
                <a:extLst>
                  <a:ext uri="{FF2B5EF4-FFF2-40B4-BE49-F238E27FC236}">
                    <a16:creationId xmlns:a16="http://schemas.microsoft.com/office/drawing/2014/main" id="{C645B809-2490-1144-EAC7-A548FE241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62400" y="3200400"/>
                <a:ext cx="2387288" cy="4414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256759-4E58-B66D-9C28-67768A8617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49151" y="3825620"/>
              <a:ext cx="914400" cy="91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B495D09-1BF5-4EF9-571D-3F3591D2E812}"/>
              </a:ext>
            </a:extLst>
          </p:cNvPr>
          <p:cNvGrpSpPr/>
          <p:nvPr/>
        </p:nvGrpSpPr>
        <p:grpSpPr>
          <a:xfrm>
            <a:off x="2591823" y="3634222"/>
            <a:ext cx="6223745" cy="628473"/>
            <a:chOff x="2591823" y="3634222"/>
            <a:chExt cx="6223745" cy="62847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35BBA4-136A-B34F-28DF-6F25C550183F}"/>
                </a:ext>
              </a:extLst>
            </p:cNvPr>
            <p:cNvGrpSpPr/>
            <p:nvPr/>
          </p:nvGrpSpPr>
          <p:grpSpPr>
            <a:xfrm>
              <a:off x="5410200" y="3634222"/>
              <a:ext cx="3405368" cy="523220"/>
              <a:chOff x="5410200" y="3634222"/>
              <a:chExt cx="3405368" cy="523220"/>
            </a:xfrm>
          </p:grpSpPr>
          <p:sp>
            <p:nvSpPr>
              <p:cNvPr id="16" name="Text Box 43">
                <a:extLst>
                  <a:ext uri="{FF2B5EF4-FFF2-40B4-BE49-F238E27FC236}">
                    <a16:creationId xmlns:a16="http://schemas.microsoft.com/office/drawing/2014/main" id="{56F1151C-7638-5DD8-E177-04D9B08602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4246" y="3634222"/>
                <a:ext cx="2481322" cy="52322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dirty="0">
                    <a:latin typeface="Tahoma" pitchFamily="-84" charset="0"/>
                  </a:rPr>
                  <a:t>Run past point where inputs have been acquired</a:t>
                </a:r>
              </a:p>
            </p:txBody>
          </p:sp>
          <p:sp>
            <p:nvSpPr>
              <p:cNvPr id="21" name="Line 44">
                <a:extLst>
                  <a:ext uri="{FF2B5EF4-FFF2-40B4-BE49-F238E27FC236}">
                    <a16:creationId xmlns:a16="http://schemas.microsoft.com/office/drawing/2014/main" id="{823CEF24-D606-B370-2AEE-75AAE1D9AB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10200" y="3869626"/>
                <a:ext cx="924046" cy="25798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3BFC3DF-6102-7A1D-F975-0882A35FFE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1823" y="4262695"/>
              <a:ext cx="2472701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60887F1-A3F2-4B4C-22CB-B3C607B709BB}"/>
              </a:ext>
            </a:extLst>
          </p:cNvPr>
          <p:cNvGrpSpPr/>
          <p:nvPr/>
        </p:nvGrpSpPr>
        <p:grpSpPr>
          <a:xfrm>
            <a:off x="1995598" y="4308774"/>
            <a:ext cx="6819970" cy="523220"/>
            <a:chOff x="1995598" y="4308774"/>
            <a:chExt cx="6819970" cy="5232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D81FBC7-741D-C03F-2948-538C39FD690D}"/>
                </a:ext>
              </a:extLst>
            </p:cNvPr>
            <p:cNvGrpSpPr/>
            <p:nvPr/>
          </p:nvGrpSpPr>
          <p:grpSpPr>
            <a:xfrm>
              <a:off x="3814094" y="4308774"/>
              <a:ext cx="5001474" cy="523220"/>
              <a:chOff x="3814094" y="4308774"/>
              <a:chExt cx="5001474" cy="523220"/>
            </a:xfrm>
          </p:grpSpPr>
          <p:sp>
            <p:nvSpPr>
              <p:cNvPr id="17" name="Line 44">
                <a:extLst>
                  <a:ext uri="{FF2B5EF4-FFF2-40B4-BE49-F238E27FC236}">
                    <a16:creationId xmlns:a16="http://schemas.microsoft.com/office/drawing/2014/main" id="{C8B94A20-D71B-B082-8062-4064F0503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4094" y="4453554"/>
                <a:ext cx="2520152" cy="13151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8" name="Text Box 43">
                <a:extLst>
                  <a:ext uri="{FF2B5EF4-FFF2-40B4-BE49-F238E27FC236}">
                    <a16:creationId xmlns:a16="http://schemas.microsoft.com/office/drawing/2014/main" id="{D4139317-091D-902B-BBB3-FF1830054B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4246" y="4308774"/>
                <a:ext cx="2481322" cy="52322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dirty="0">
                    <a:latin typeface="Tahoma" pitchFamily="-84" charset="0"/>
                  </a:rPr>
                  <a:t>Inject randomize values into ports (satisfying constraints)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941F27-03BF-D305-E6DE-286192D40E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95598" y="4687824"/>
              <a:ext cx="747602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425CF0A-2CA8-7909-6801-CBF312E16465}"/>
              </a:ext>
            </a:extLst>
          </p:cNvPr>
          <p:cNvGrpSpPr/>
          <p:nvPr/>
        </p:nvGrpSpPr>
        <p:grpSpPr>
          <a:xfrm>
            <a:off x="2497108" y="4946072"/>
            <a:ext cx="6318460" cy="670528"/>
            <a:chOff x="2497108" y="4946072"/>
            <a:chExt cx="6318460" cy="67052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41CF1C7-6A68-E67F-2707-5143D618656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97108" y="5123442"/>
              <a:ext cx="1003019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60D2F62-A54F-5D73-2291-DEED816568DA}"/>
                </a:ext>
              </a:extLst>
            </p:cNvPr>
            <p:cNvGrpSpPr/>
            <p:nvPr/>
          </p:nvGrpSpPr>
          <p:grpSpPr>
            <a:xfrm>
              <a:off x="3765326" y="4946072"/>
              <a:ext cx="5050242" cy="670528"/>
              <a:chOff x="3765326" y="4946072"/>
              <a:chExt cx="5050242" cy="67052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7437ABA-8CE2-7AAD-DC79-2C1E922216DA}"/>
                  </a:ext>
                </a:extLst>
              </p:cNvPr>
              <p:cNvGrpSpPr/>
              <p:nvPr/>
            </p:nvGrpSpPr>
            <p:grpSpPr>
              <a:xfrm>
                <a:off x="5064524" y="4946072"/>
                <a:ext cx="3751044" cy="670528"/>
                <a:chOff x="5064524" y="4946072"/>
                <a:chExt cx="3751044" cy="670528"/>
              </a:xfrm>
            </p:grpSpPr>
            <p:sp>
              <p:nvSpPr>
                <p:cNvPr id="22" name="Text Box 43">
                  <a:extLst>
                    <a:ext uri="{FF2B5EF4-FFF2-40B4-BE49-F238E27FC236}">
                      <a16:creationId xmlns:a16="http://schemas.microsoft.com/office/drawing/2014/main" id="{C9398DEA-782B-5234-9CF1-6F4B5FBD9C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34246" y="4946072"/>
                  <a:ext cx="2481322" cy="523220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35921" dir="2700000" algn="ctr" rotWithShape="0">
                    <a:schemeClr val="bg2"/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 algn="l">
                    <a:defRPr/>
                  </a:pPr>
                  <a:r>
                    <a:rPr lang="en-US" sz="1400" dirty="0">
                      <a:latin typeface="Tahoma" pitchFamily="-84" charset="0"/>
                    </a:rPr>
                    <a:t>Run to end of </a:t>
                  </a:r>
                  <a:r>
                    <a:rPr lang="en-US" sz="1400" dirty="0" err="1">
                      <a:latin typeface="Tahoma" pitchFamily="-84" charset="0"/>
                    </a:rPr>
                    <a:t>hyperiod</a:t>
                  </a:r>
                  <a:r>
                    <a:rPr lang="en-US" sz="1400" dirty="0">
                      <a:latin typeface="Tahoma" pitchFamily="-84" charset="0"/>
                    </a:rPr>
                    <a:t> and observe output values</a:t>
                  </a:r>
                </a:p>
              </p:txBody>
            </p:sp>
            <p:sp>
              <p:nvSpPr>
                <p:cNvPr id="23" name="Line 44">
                  <a:extLst>
                    <a:ext uri="{FF2B5EF4-FFF2-40B4-BE49-F238E27FC236}">
                      <a16:creationId xmlns:a16="http://schemas.microsoft.com/office/drawing/2014/main" id="{AE553778-90C1-1847-26BF-42E4DCD5CF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74170" y="5147826"/>
                  <a:ext cx="1250430" cy="22185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" name="Line 44">
                  <a:extLst>
                    <a:ext uri="{FF2B5EF4-FFF2-40B4-BE49-F238E27FC236}">
                      <a16:creationId xmlns:a16="http://schemas.microsoft.com/office/drawing/2014/main" id="{729ECB5B-9DC0-84FC-2F72-7AB724E106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64524" y="4946072"/>
                  <a:ext cx="34532" cy="67052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endParaRPr lang="en-US" dirty="0"/>
                </a:p>
              </p:txBody>
            </p: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2BC9E97-A14C-976A-904E-3DE5E2A4FB8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765326" y="5555640"/>
                <a:ext cx="1035275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661DDD-8879-9628-8B82-0FF5A3A42DA7}"/>
              </a:ext>
            </a:extLst>
          </p:cNvPr>
          <p:cNvGrpSpPr/>
          <p:nvPr/>
        </p:nvGrpSpPr>
        <p:grpSpPr>
          <a:xfrm>
            <a:off x="1995541" y="5616600"/>
            <a:ext cx="6810381" cy="954107"/>
            <a:chOff x="1995541" y="5616600"/>
            <a:chExt cx="6810381" cy="95410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0EBA143-662E-8844-626F-58521573A20A}"/>
                </a:ext>
              </a:extLst>
            </p:cNvPr>
            <p:cNvGrpSpPr/>
            <p:nvPr/>
          </p:nvGrpSpPr>
          <p:grpSpPr>
            <a:xfrm>
              <a:off x="4572000" y="5616600"/>
              <a:ext cx="4233922" cy="954107"/>
              <a:chOff x="4572000" y="5616600"/>
              <a:chExt cx="4233922" cy="954107"/>
            </a:xfrm>
          </p:grpSpPr>
          <p:sp>
            <p:nvSpPr>
              <p:cNvPr id="19" name="Text Box 43">
                <a:extLst>
                  <a:ext uri="{FF2B5EF4-FFF2-40B4-BE49-F238E27FC236}">
                    <a16:creationId xmlns:a16="http://schemas.microsoft.com/office/drawing/2014/main" id="{363DD675-CA75-38D0-939E-FA5A54DA1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5616600"/>
                <a:ext cx="2481322" cy="954107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dirty="0">
                    <a:latin typeface="Tahoma" pitchFamily="-84" charset="0"/>
                  </a:rPr>
                  <a:t>Check property – desired relationship between observed state and different temporal points</a:t>
                </a:r>
              </a:p>
            </p:txBody>
          </p:sp>
          <p:sp>
            <p:nvSpPr>
              <p:cNvPr id="25" name="Line 44">
                <a:extLst>
                  <a:ext uri="{FF2B5EF4-FFF2-40B4-BE49-F238E27FC236}">
                    <a16:creationId xmlns:a16="http://schemas.microsoft.com/office/drawing/2014/main" id="{F59055BD-2514-3C3D-20CF-76E122983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2000" y="6179356"/>
                <a:ext cx="1701488" cy="1502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824E94A-F195-A532-65CF-0C4AFF9705B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95541" y="6400800"/>
              <a:ext cx="2347859" cy="218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958D13-AE74-4377-E1FD-222BDE4F1C10}"/>
              </a:ext>
            </a:extLst>
          </p:cNvPr>
          <p:cNvGrpSpPr/>
          <p:nvPr/>
        </p:nvGrpSpPr>
        <p:grpSpPr>
          <a:xfrm>
            <a:off x="1618834" y="2133384"/>
            <a:ext cx="6780750" cy="1267939"/>
            <a:chOff x="1618834" y="2133384"/>
            <a:chExt cx="6780750" cy="12679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42AF5B1-DD34-A6C6-DBE1-DE7FCF6194A8}"/>
                </a:ext>
              </a:extLst>
            </p:cNvPr>
            <p:cNvGrpSpPr/>
            <p:nvPr/>
          </p:nvGrpSpPr>
          <p:grpSpPr>
            <a:xfrm>
              <a:off x="4800601" y="2133384"/>
              <a:ext cx="3598983" cy="1107148"/>
              <a:chOff x="4809745" y="2987070"/>
              <a:chExt cx="3598983" cy="1107148"/>
            </a:xfrm>
          </p:grpSpPr>
          <p:sp>
            <p:nvSpPr>
              <p:cNvPr id="10" name="Text Box 43">
                <a:extLst>
                  <a:ext uri="{FF2B5EF4-FFF2-40B4-BE49-F238E27FC236}">
                    <a16:creationId xmlns:a16="http://schemas.microsoft.com/office/drawing/2014/main" id="{D9BBC66A-72D0-FB2E-96C2-F46FD84E91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3744" y="2987070"/>
                <a:ext cx="2074984" cy="52322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5921" dir="2700000" algn="ctr" rotWithShape="0">
                  <a:schemeClr val="bg2"/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 algn="l">
                  <a:defRPr/>
                </a:pPr>
                <a:r>
                  <a:rPr lang="en-US" sz="1400" dirty="0">
                    <a:latin typeface="Tahoma" pitchFamily="-84" charset="0"/>
                  </a:rPr>
                  <a:t>Run initialization phase of system</a:t>
                </a:r>
              </a:p>
            </p:txBody>
          </p:sp>
          <p:sp>
            <p:nvSpPr>
              <p:cNvPr id="11" name="Line 44">
                <a:extLst>
                  <a:ext uri="{FF2B5EF4-FFF2-40B4-BE49-F238E27FC236}">
                    <a16:creationId xmlns:a16="http://schemas.microsoft.com/office/drawing/2014/main" id="{82A5CC56-9761-28BE-47AF-237F411F7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9745" y="3322332"/>
                <a:ext cx="1524000" cy="77188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0BFC72D-7AA7-BC18-1143-B7025EF410B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18834" y="3401323"/>
              <a:ext cx="1844717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2221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04BC5C-D3A6-524A-833A-65DBBAA4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Randomization Framework for Injection Vectors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0A299-E9F9-40C3-69D5-2B1282DB1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22399C2-1ADD-1549-9753-CEA7C1EED1B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64D0D-B6FC-58D9-54D7-56028BA5A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58858"/>
            <a:ext cx="7028235" cy="4417314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E7819FB4-F6AA-183A-CEA3-FFB31F39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06" y="1230120"/>
            <a:ext cx="7836788" cy="646331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Scripts can be parameterized on injection vectors, which enables us to use a randomizing framework to generate these vectors</a:t>
            </a:r>
            <a:endParaRPr lang="en-US" sz="1800" i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2AF5B1-DD34-A6C6-DBE1-DE7FCF6194A8}"/>
              </a:ext>
            </a:extLst>
          </p:cNvPr>
          <p:cNvGrpSpPr/>
          <p:nvPr/>
        </p:nvGrpSpPr>
        <p:grpSpPr>
          <a:xfrm>
            <a:off x="4191252" y="1963571"/>
            <a:ext cx="4208332" cy="681229"/>
            <a:chOff x="4200396" y="2817257"/>
            <a:chExt cx="4208332" cy="681229"/>
          </a:xfrm>
        </p:grpSpPr>
        <p:sp>
          <p:nvSpPr>
            <p:cNvPr id="10" name="Text Box 43">
              <a:extLst>
                <a:ext uri="{FF2B5EF4-FFF2-40B4-BE49-F238E27FC236}">
                  <a16:creationId xmlns:a16="http://schemas.microsoft.com/office/drawing/2014/main" id="{D9BBC66A-72D0-FB2E-96C2-F46FD84E9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744" y="2817257"/>
              <a:ext cx="2074984" cy="5232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l">
                <a:defRPr/>
              </a:pPr>
              <a:r>
                <a:rPr lang="en-US" sz="1400" dirty="0">
                  <a:latin typeface="Tahoma" pitchFamily="-84" charset="0"/>
                </a:rPr>
                <a:t>Accepts an input of randomized port values</a:t>
              </a:r>
            </a:p>
          </p:txBody>
        </p:sp>
        <p:sp>
          <p:nvSpPr>
            <p:cNvPr id="11" name="Line 44">
              <a:extLst>
                <a:ext uri="{FF2B5EF4-FFF2-40B4-BE49-F238E27FC236}">
                  <a16:creationId xmlns:a16="http://schemas.microsoft.com/office/drawing/2014/main" id="{82A5CC56-9761-28BE-47AF-237F411F7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0396" y="3112543"/>
              <a:ext cx="2133348" cy="3859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A7490C9-C47F-83E5-8855-9A3947199E39}"/>
              </a:ext>
            </a:extLst>
          </p:cNvPr>
          <p:cNvSpPr/>
          <p:nvPr/>
        </p:nvSpPr>
        <p:spPr bwMode="auto">
          <a:xfrm>
            <a:off x="1524000" y="2468646"/>
            <a:ext cx="2667252" cy="31128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2" name="Text Box 43">
            <a:extLst>
              <a:ext uri="{FF2B5EF4-FFF2-40B4-BE49-F238E27FC236}">
                <a16:creationId xmlns:a16="http://schemas.microsoft.com/office/drawing/2014/main" id="{0C1A150C-2A8C-2D07-3E4F-06351A27C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730" y="3655051"/>
            <a:ext cx="2595470" cy="255454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lang="en-US" sz="1600" dirty="0">
                <a:latin typeface="Tahoma" pitchFamily="-84" charset="0"/>
              </a:rPr>
              <a:t>Test configurations can be defined to specify the 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latin typeface="Tahoma" pitchFamily="-84" charset="0"/>
              </a:rPr>
              <a:t>number of runs </a:t>
            </a:r>
            <a:r>
              <a:rPr lang="en-US" sz="1600" dirty="0">
                <a:latin typeface="Tahoma" pitchFamily="-84" charset="0"/>
              </a:rPr>
              <a:t>for the tests, 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latin typeface="Tahoma" pitchFamily="-84" charset="0"/>
              </a:rPr>
              <a:t>constraints on random value vector generation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ahoma" pitchFamily="-84" charset="0"/>
              </a:rPr>
              <a:t>specific </a:t>
            </a:r>
            <a:r>
              <a:rPr lang="en-US" sz="1600" b="1" dirty="0">
                <a:latin typeface="Tahoma" pitchFamily="-84" charset="0"/>
              </a:rPr>
              <a:t>property to be checked </a:t>
            </a:r>
            <a:r>
              <a:rPr lang="en-US" sz="1600" dirty="0">
                <a:latin typeface="Tahoma" pitchFamily="-84" charset="0"/>
              </a:rPr>
              <a:t>within the test script</a:t>
            </a:r>
          </a:p>
        </p:txBody>
      </p:sp>
    </p:spTree>
    <p:extLst>
      <p:ext uri="{BB962C8B-B14F-4D97-AF65-F5344CB8AC3E}">
        <p14:creationId xmlns:p14="http://schemas.microsoft.com/office/powerpoint/2010/main" val="238291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Picture 4" descr="Data centre with server racks isometric 3d icon Vector Image">
            <a:extLst>
              <a:ext uri="{FF2B5EF4-FFF2-40B4-BE49-F238E27FC236}">
                <a16:creationId xmlns:a16="http://schemas.microsoft.com/office/drawing/2014/main" id="{73289E80-AE93-02B2-90A5-D424A85DC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6550" y="2144097"/>
            <a:ext cx="1333499" cy="143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C70EA207-4D80-C5E0-9D6C-DACD2DF145C4}"/>
              </a:ext>
            </a:extLst>
          </p:cNvPr>
          <p:cNvSpPr/>
          <p:nvPr/>
        </p:nvSpPr>
        <p:spPr bwMode="auto">
          <a:xfrm>
            <a:off x="4170149" y="1980084"/>
            <a:ext cx="2514600" cy="149566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1AAEB-13A4-34E4-50D7-77923C7D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Scaling Up – </a:t>
            </a:r>
            <a:br>
              <a:rPr lang="en-US" sz="3200" dirty="0"/>
            </a:br>
            <a:r>
              <a:rPr lang="en-US" sz="3200" dirty="0"/>
              <a:t>Server-Based Deployment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D0F59DB-74D8-1808-694D-C9D41D0B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406868"/>
            <a:ext cx="8153400" cy="1993931"/>
          </a:xfrm>
        </p:spPr>
        <p:txBody>
          <a:bodyPr/>
          <a:lstStyle/>
          <a:p>
            <a:r>
              <a:rPr lang="en-US" sz="1800" dirty="0"/>
              <a:t>Random generators and configured system tests are farmed out to a configurable family of servers</a:t>
            </a:r>
          </a:p>
          <a:p>
            <a:r>
              <a:rPr lang="en-US" sz="1800" dirty="0"/>
              <a:t>Test vectors and results are serialized for flexible deployment, reporting, and replay of the tests</a:t>
            </a:r>
          </a:p>
          <a:p>
            <a:r>
              <a:rPr lang="en-US" sz="1800" dirty="0"/>
              <a:t>Currently hosted using our Jenkins setup, but easy for HAMR to automatically generate deployment scripts, e.g., for AWS, in the future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82E55-5F4A-BEE1-B79E-0ED7638A7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AA622-F4CE-604D-A669-CD3D12FC535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849B0F5E-F17B-2F4A-1109-D73BB119A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168" y="3444323"/>
            <a:ext cx="2895600" cy="46166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Map/Reduce Structure for Server-based Deployment of Contract-based Testing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5E262EC-DE49-67F2-D448-CD39223B8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81352"/>
            <a:ext cx="7836788" cy="646331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/>
              <a:t>HAMR generates a server-based deployment to run the framework in a distributed/parallel fashion...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39156D-8338-7BBE-4ECD-049874917E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980084"/>
            <a:ext cx="1676400" cy="10835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510962-AD76-ABBC-6A28-0F11F3843D25}"/>
              </a:ext>
            </a:extLst>
          </p:cNvPr>
          <p:cNvCxnSpPr/>
          <p:nvPr/>
        </p:nvCxnSpPr>
        <p:spPr bwMode="auto">
          <a:xfrm>
            <a:off x="4762500" y="2203867"/>
            <a:ext cx="1333500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F6F656-07D7-F55F-4E84-D02CF5E65C7B}"/>
              </a:ext>
            </a:extLst>
          </p:cNvPr>
          <p:cNvCxnSpPr>
            <a:cxnSpLocks/>
          </p:cNvCxnSpPr>
          <p:nvPr/>
        </p:nvCxnSpPr>
        <p:spPr bwMode="auto">
          <a:xfrm>
            <a:off x="4572000" y="2521874"/>
            <a:ext cx="1676400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05073E-20C0-D9B8-B415-F2D958D4BFBF}"/>
              </a:ext>
            </a:extLst>
          </p:cNvPr>
          <p:cNvCxnSpPr>
            <a:cxnSpLocks/>
          </p:cNvCxnSpPr>
          <p:nvPr/>
        </p:nvCxnSpPr>
        <p:spPr bwMode="auto">
          <a:xfrm>
            <a:off x="4572000" y="2895600"/>
            <a:ext cx="1600200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1164F4-141A-3F03-1F35-2FC30AF72570}"/>
              </a:ext>
            </a:extLst>
          </p:cNvPr>
          <p:cNvCxnSpPr/>
          <p:nvPr/>
        </p:nvCxnSpPr>
        <p:spPr bwMode="auto">
          <a:xfrm>
            <a:off x="4762500" y="3124200"/>
            <a:ext cx="1333500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D6455D-0CAB-89C6-61A0-50AA9838848E}"/>
              </a:ext>
            </a:extLst>
          </p:cNvPr>
          <p:cNvCxnSpPr>
            <a:cxnSpLocks/>
          </p:cNvCxnSpPr>
          <p:nvPr/>
        </p:nvCxnSpPr>
        <p:spPr bwMode="auto">
          <a:xfrm flipH="1">
            <a:off x="4419600" y="2203866"/>
            <a:ext cx="342900" cy="463134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E76834-C70A-1E32-5B56-AD73AD518821}"/>
              </a:ext>
            </a:extLst>
          </p:cNvPr>
          <p:cNvCxnSpPr>
            <a:cxnSpLocks/>
          </p:cNvCxnSpPr>
          <p:nvPr/>
        </p:nvCxnSpPr>
        <p:spPr bwMode="auto">
          <a:xfrm>
            <a:off x="4419600" y="2706703"/>
            <a:ext cx="342900" cy="417497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E493A7-78D4-D4A6-32E6-FEB4595B3617}"/>
              </a:ext>
            </a:extLst>
          </p:cNvPr>
          <p:cNvCxnSpPr>
            <a:cxnSpLocks/>
          </p:cNvCxnSpPr>
          <p:nvPr/>
        </p:nvCxnSpPr>
        <p:spPr bwMode="auto">
          <a:xfrm>
            <a:off x="6096000" y="2203866"/>
            <a:ext cx="342900" cy="463134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4690CB-3D04-DF75-C905-301B7C7A6D59}"/>
              </a:ext>
            </a:extLst>
          </p:cNvPr>
          <p:cNvCxnSpPr>
            <a:cxnSpLocks/>
          </p:cNvCxnSpPr>
          <p:nvPr/>
        </p:nvCxnSpPr>
        <p:spPr bwMode="auto">
          <a:xfrm flipH="1">
            <a:off x="6096000" y="2706703"/>
            <a:ext cx="342900" cy="417497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6068A3-6024-FDBE-6F40-FCCD5CC829A6}"/>
              </a:ext>
            </a:extLst>
          </p:cNvPr>
          <p:cNvSpPr txBox="1"/>
          <p:nvPr/>
        </p:nvSpPr>
        <p:spPr>
          <a:xfrm rot="16200000">
            <a:off x="5557174" y="2486401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28093E-6034-16A8-D6C7-E4AE1626A299}"/>
              </a:ext>
            </a:extLst>
          </p:cNvPr>
          <p:cNvGrpSpPr/>
          <p:nvPr/>
        </p:nvGrpSpPr>
        <p:grpSpPr>
          <a:xfrm>
            <a:off x="5012009" y="2056282"/>
            <a:ext cx="679592" cy="315296"/>
            <a:chOff x="1682610" y="3429000"/>
            <a:chExt cx="679592" cy="31529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408CA39-AE52-54D0-E5F4-212D7732A08F}"/>
                </a:ext>
              </a:extLst>
            </p:cNvPr>
            <p:cNvSpPr/>
            <p:nvPr/>
          </p:nvSpPr>
          <p:spPr bwMode="auto">
            <a:xfrm>
              <a:off x="1828801" y="3429000"/>
              <a:ext cx="533401" cy="3152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73F6251-AE6C-AA62-EFD0-56D9A4FBB868}"/>
                </a:ext>
              </a:extLst>
            </p:cNvPr>
            <p:cNvGrpSpPr/>
            <p:nvPr/>
          </p:nvGrpSpPr>
          <p:grpSpPr>
            <a:xfrm>
              <a:off x="1682610" y="3429000"/>
              <a:ext cx="679592" cy="293185"/>
              <a:chOff x="1602307" y="3429000"/>
              <a:chExt cx="1052887" cy="60960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03513B0-3B06-5AA9-632C-7A87C3A8131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4290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CBC63C4-5231-C512-1EF3-CE056AC2538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5433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B7407D2-AA47-B41B-D0B7-98AC5959AB3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6576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D5B7FBF-83AB-1BA0-97AE-A267E5A79F1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9624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B8A561-CA88-5135-525D-698156B3E712}"/>
                  </a:ext>
                </a:extLst>
              </p:cNvPr>
              <p:cNvSpPr txBox="1"/>
              <p:nvPr/>
            </p:nvSpPr>
            <p:spPr>
              <a:xfrm rot="16200000">
                <a:off x="1750085" y="3479129"/>
                <a:ext cx="348172" cy="643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...</a:t>
                </a:r>
                <a:endParaRPr lang="en-US" sz="1400" dirty="0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9C47BAB-3805-0077-DA35-D15C238FAC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40386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66468CD-0152-4E79-14A0-9D0F2EE1DB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55194" y="3429000"/>
                <a:ext cx="0" cy="6096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25455E8-5219-91E6-B0BF-91FB5E922C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429000"/>
                <a:ext cx="0" cy="6096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A791A23-AE77-C853-822E-0A5F0C3FA17D}"/>
              </a:ext>
            </a:extLst>
          </p:cNvPr>
          <p:cNvGrpSpPr/>
          <p:nvPr/>
        </p:nvGrpSpPr>
        <p:grpSpPr>
          <a:xfrm>
            <a:off x="5035408" y="2427904"/>
            <a:ext cx="679592" cy="315296"/>
            <a:chOff x="1682610" y="3429000"/>
            <a:chExt cx="679592" cy="31529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A248549-E161-6466-2028-66150979B94D}"/>
                </a:ext>
              </a:extLst>
            </p:cNvPr>
            <p:cNvSpPr/>
            <p:nvPr/>
          </p:nvSpPr>
          <p:spPr bwMode="auto">
            <a:xfrm>
              <a:off x="1828801" y="3429000"/>
              <a:ext cx="533401" cy="3152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6AC018B-6F64-4270-667F-BD09C315FA0C}"/>
                </a:ext>
              </a:extLst>
            </p:cNvPr>
            <p:cNvGrpSpPr/>
            <p:nvPr/>
          </p:nvGrpSpPr>
          <p:grpSpPr>
            <a:xfrm>
              <a:off x="1682610" y="3429000"/>
              <a:ext cx="679592" cy="293185"/>
              <a:chOff x="1602307" y="3429000"/>
              <a:chExt cx="1052887" cy="6096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49C4B5A-8205-0903-A811-53FB47A469E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4290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7FE9AB1-DAC5-FAE6-45F4-DAEBF71CC2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5433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5255005-411F-AFD2-91F9-D0CBC695E81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6576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0A4E015F-7A5E-E156-1165-EF838AD0518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9624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746C8EE-EF6D-A4B4-9E32-AE42D474C35B}"/>
                  </a:ext>
                </a:extLst>
              </p:cNvPr>
              <p:cNvSpPr txBox="1"/>
              <p:nvPr/>
            </p:nvSpPr>
            <p:spPr>
              <a:xfrm rot="16200000">
                <a:off x="1750085" y="3479129"/>
                <a:ext cx="348172" cy="643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...</a:t>
                </a:r>
                <a:endParaRPr lang="en-US" sz="1400" dirty="0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56219F5-3358-7C4C-5394-4F502F128B8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40386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B66DD9D-8DB3-F6D4-2BED-CCDAB534718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55194" y="3429000"/>
                <a:ext cx="0" cy="6096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C6A592B-B3E5-FCD9-5700-D811417BAA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429000"/>
                <a:ext cx="0" cy="6096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B36614B6-8D4A-D517-1DAC-5A4FACEC7F97}"/>
              </a:ext>
            </a:extLst>
          </p:cNvPr>
          <p:cNvGrpSpPr/>
          <p:nvPr/>
        </p:nvGrpSpPr>
        <p:grpSpPr>
          <a:xfrm>
            <a:off x="5029200" y="3037504"/>
            <a:ext cx="679592" cy="315296"/>
            <a:chOff x="1682610" y="3429000"/>
            <a:chExt cx="679592" cy="315296"/>
          </a:xfrm>
        </p:grpSpPr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8BDF0377-EE48-9B88-7DE5-709D6F1A52BF}"/>
                </a:ext>
              </a:extLst>
            </p:cNvPr>
            <p:cNvSpPr/>
            <p:nvPr/>
          </p:nvSpPr>
          <p:spPr bwMode="auto">
            <a:xfrm>
              <a:off x="1828801" y="3429000"/>
              <a:ext cx="533401" cy="3152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A5D6F71D-DC73-E0AD-B464-067BD4971CF8}"/>
                </a:ext>
              </a:extLst>
            </p:cNvPr>
            <p:cNvGrpSpPr/>
            <p:nvPr/>
          </p:nvGrpSpPr>
          <p:grpSpPr>
            <a:xfrm>
              <a:off x="1682610" y="3429000"/>
              <a:ext cx="679592" cy="293185"/>
              <a:chOff x="1602307" y="3429000"/>
              <a:chExt cx="1052887" cy="609600"/>
            </a:xfrm>
          </p:grpSpPr>
          <p:cxnSp>
            <p:nvCxnSpPr>
              <p:cNvPr id="1028" name="Straight Connector 1027">
                <a:extLst>
                  <a:ext uri="{FF2B5EF4-FFF2-40B4-BE49-F238E27FC236}">
                    <a16:creationId xmlns:a16="http://schemas.microsoft.com/office/drawing/2014/main" id="{9A0303BF-5350-8D86-EB70-206C9B58543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4290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EF9E5FD6-71AC-E21A-2FC6-A979FF1E884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5433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0" name="Straight Connector 1029">
                <a:extLst>
                  <a:ext uri="{FF2B5EF4-FFF2-40B4-BE49-F238E27FC236}">
                    <a16:creationId xmlns:a16="http://schemas.microsoft.com/office/drawing/2014/main" id="{9880588D-F3CD-85B4-FB63-C8DCB69645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6576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1" name="Straight Connector 1030">
                <a:extLst>
                  <a:ext uri="{FF2B5EF4-FFF2-40B4-BE49-F238E27FC236}">
                    <a16:creationId xmlns:a16="http://schemas.microsoft.com/office/drawing/2014/main" id="{32E6CAD3-C8D5-DEAC-8C8A-B5E7512F1F7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9624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FC078C0E-0C1B-F6AF-A690-344B474A9069}"/>
                  </a:ext>
                </a:extLst>
              </p:cNvPr>
              <p:cNvSpPr txBox="1"/>
              <p:nvPr/>
            </p:nvSpPr>
            <p:spPr>
              <a:xfrm rot="16200000">
                <a:off x="1750085" y="3479129"/>
                <a:ext cx="348172" cy="643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...</a:t>
                </a:r>
                <a:endParaRPr lang="en-US" sz="1400" dirty="0"/>
              </a:p>
            </p:txBody>
          </p:sp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0BDD1CDB-42B5-2CB0-8164-98740889D51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4038600"/>
                <a:ext cx="82639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9894C43B-7022-A073-237D-26DDE53FBA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55194" y="3429000"/>
                <a:ext cx="0" cy="6096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5" name="Straight Connector 1034">
                <a:extLst>
                  <a:ext uri="{FF2B5EF4-FFF2-40B4-BE49-F238E27FC236}">
                    <a16:creationId xmlns:a16="http://schemas.microsoft.com/office/drawing/2014/main" id="{B0C177CC-8833-26EC-8014-9FCB335615B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828800" y="3429000"/>
                <a:ext cx="0" cy="60960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38" name="Text Box 12">
            <a:extLst>
              <a:ext uri="{FF2B5EF4-FFF2-40B4-BE49-F238E27FC236}">
                <a16:creationId xmlns:a16="http://schemas.microsoft.com/office/drawing/2014/main" id="{6D7F29AD-BCBC-EC16-B559-D3CF6C333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17042"/>
            <a:ext cx="990600" cy="27699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i="1" dirty="0"/>
              <a:t>Distribution</a:t>
            </a:r>
          </a:p>
        </p:txBody>
      </p:sp>
      <p:sp>
        <p:nvSpPr>
          <p:cNvPr id="1039" name="Text Box 12">
            <a:extLst>
              <a:ext uri="{FF2B5EF4-FFF2-40B4-BE49-F238E27FC236}">
                <a16:creationId xmlns:a16="http://schemas.microsoft.com/office/drawing/2014/main" id="{106AA037-03CA-A478-167A-7E836BF12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480" y="1916930"/>
            <a:ext cx="1143000" cy="27699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i="1" dirty="0"/>
              <a:t>Parallelization</a:t>
            </a:r>
          </a:p>
        </p:txBody>
      </p:sp>
      <p:sp>
        <p:nvSpPr>
          <p:cNvPr id="1040" name="Line 13">
            <a:extLst>
              <a:ext uri="{FF2B5EF4-FFF2-40B4-BE49-F238E27FC236}">
                <a16:creationId xmlns:a16="http://schemas.microsoft.com/office/drawing/2014/main" id="{15D818D9-A83C-8BB6-CF71-3F852B4480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3867" y="2780633"/>
            <a:ext cx="181934" cy="328848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1" name="Line 13">
            <a:extLst>
              <a:ext uri="{FF2B5EF4-FFF2-40B4-BE49-F238E27FC236}">
                <a16:creationId xmlns:a16="http://schemas.microsoft.com/office/drawing/2014/main" id="{02957F24-F21C-0173-E65C-1201F44E3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9682" y="2008198"/>
            <a:ext cx="469898" cy="89833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2" name="Bent Arrow 1041">
            <a:extLst>
              <a:ext uri="{FF2B5EF4-FFF2-40B4-BE49-F238E27FC236}">
                <a16:creationId xmlns:a16="http://schemas.microsoft.com/office/drawing/2014/main" id="{B85010E7-9E24-4692-0702-814B0B65F3F4}"/>
              </a:ext>
            </a:extLst>
          </p:cNvPr>
          <p:cNvSpPr/>
          <p:nvPr/>
        </p:nvSpPr>
        <p:spPr bwMode="auto">
          <a:xfrm flipV="1">
            <a:off x="2359828" y="3065022"/>
            <a:ext cx="593611" cy="562511"/>
          </a:xfrm>
          <a:prstGeom prst="bentArrow">
            <a:avLst>
              <a:gd name="adj1" fmla="val 34299"/>
              <a:gd name="adj2" fmla="val 49459"/>
              <a:gd name="adj3" fmla="val 25000"/>
              <a:gd name="adj4" fmla="val 55878"/>
            </a:avLst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1043" name="Text Box 12">
            <a:extLst>
              <a:ext uri="{FF2B5EF4-FFF2-40B4-BE49-F238E27FC236}">
                <a16:creationId xmlns:a16="http://schemas.microsoft.com/office/drawing/2014/main" id="{0661875B-0181-908A-35C2-B2A757608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959531"/>
            <a:ext cx="990600" cy="27699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i="1" dirty="0"/>
              <a:t>Servers</a:t>
            </a:r>
          </a:p>
        </p:txBody>
      </p:sp>
      <p:sp>
        <p:nvSpPr>
          <p:cNvPr id="1044" name="Text Box 12">
            <a:extLst>
              <a:ext uri="{FF2B5EF4-FFF2-40B4-BE49-F238E27FC236}">
                <a16:creationId xmlns:a16="http://schemas.microsoft.com/office/drawing/2014/main" id="{DE487347-535C-C485-26C4-6B3DCB3E3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412" y="3479644"/>
            <a:ext cx="2300188" cy="46166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/>
              <a:t>Continous</a:t>
            </a:r>
            <a:r>
              <a:rPr lang="en-US" sz="1200" dirty="0"/>
              <a:t> Integration / Delivery of Formal Methods</a:t>
            </a:r>
          </a:p>
        </p:txBody>
      </p:sp>
    </p:spTree>
    <p:extLst>
      <p:ext uri="{BB962C8B-B14F-4D97-AF65-F5344CB8AC3E}">
        <p14:creationId xmlns:p14="http://schemas.microsoft.com/office/powerpoint/2010/main" val="410568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7415A8-D2BD-87E2-A73B-8D05B5B10810}"/>
              </a:ext>
            </a:extLst>
          </p:cNvPr>
          <p:cNvSpPr/>
          <p:nvPr/>
        </p:nvSpPr>
        <p:spPr bwMode="auto">
          <a:xfrm>
            <a:off x="1066800" y="1524000"/>
            <a:ext cx="1447800" cy="364536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9E646-286B-3482-E5C6-E122219F5F22}"/>
              </a:ext>
            </a:extLst>
          </p:cNvPr>
          <p:cNvSpPr txBox="1"/>
          <p:nvPr/>
        </p:nvSpPr>
        <p:spPr>
          <a:xfrm>
            <a:off x="1052512" y="152400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75E0F-FA8F-1B8D-8174-85D303E64883}"/>
              </a:ext>
            </a:extLst>
          </p:cNvPr>
          <p:cNvSpPr txBox="1"/>
          <p:nvPr/>
        </p:nvSpPr>
        <p:spPr>
          <a:xfrm>
            <a:off x="1030231" y="3428424"/>
            <a:ext cx="7906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Static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6CB14-938C-EDD2-DACD-5CDA4386CF95}"/>
              </a:ext>
            </a:extLst>
          </p:cNvPr>
          <p:cNvSpPr txBox="1"/>
          <p:nvPr/>
        </p:nvSpPr>
        <p:spPr>
          <a:xfrm>
            <a:off x="1028786" y="2719410"/>
            <a:ext cx="9637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Component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EE959-35F2-43EF-7B76-D725A2A42EF2}"/>
              </a:ext>
            </a:extLst>
          </p:cNvPr>
          <p:cNvSpPr txBox="1"/>
          <p:nvPr/>
        </p:nvSpPr>
        <p:spPr>
          <a:xfrm>
            <a:off x="1080724" y="2844932"/>
            <a:ext cx="6174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39CC6-08B7-D25F-08C2-3807951CB329}"/>
              </a:ext>
            </a:extLst>
          </p:cNvPr>
          <p:cNvSpPr txBox="1"/>
          <p:nvPr/>
        </p:nvSpPr>
        <p:spPr>
          <a:xfrm>
            <a:off x="1080724" y="3122391"/>
            <a:ext cx="10134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Executable Contracts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6B1C16-7A54-C7B5-F7E1-C16CE4661B98}"/>
              </a:ext>
            </a:extLst>
          </p:cNvPr>
          <p:cNvSpPr txBox="1"/>
          <p:nvPr/>
        </p:nvSpPr>
        <p:spPr>
          <a:xfrm>
            <a:off x="1010716" y="3867709"/>
            <a:ext cx="8386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Configurations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D68C2B-F4EF-5C8A-20CD-261D303613F3}"/>
              </a:ext>
            </a:extLst>
          </p:cNvPr>
          <p:cNvSpPr txBox="1"/>
          <p:nvPr/>
        </p:nvSpPr>
        <p:spPr>
          <a:xfrm>
            <a:off x="1103625" y="4014020"/>
            <a:ext cx="7713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Config  Name</a:t>
            </a:r>
            <a:r>
              <a:rPr lang="en-US" sz="700" i="1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A7968-CA7A-70C3-C934-956EDB4D74C6}"/>
              </a:ext>
            </a:extLst>
          </p:cNvPr>
          <p:cNvSpPr txBox="1"/>
          <p:nvPr/>
        </p:nvSpPr>
        <p:spPr>
          <a:xfrm>
            <a:off x="1103625" y="4333555"/>
            <a:ext cx="7537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Config  Name</a:t>
            </a:r>
            <a:r>
              <a:rPr lang="en-US" sz="700" i="1" baseline="-250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614FA-CA64-FD55-680D-067371E0BF44}"/>
              </a:ext>
            </a:extLst>
          </p:cNvPr>
          <p:cNvSpPr txBox="1"/>
          <p:nvPr/>
        </p:nvSpPr>
        <p:spPr>
          <a:xfrm rot="5400000">
            <a:off x="1241666" y="4454832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E25B2B-FC1B-A24F-90AD-44D5A73D96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5400" y="1723351"/>
            <a:ext cx="652178" cy="36173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67D614-921A-8439-17C7-DE904FABB14D}"/>
              </a:ext>
            </a:extLst>
          </p:cNvPr>
          <p:cNvSpPr txBox="1"/>
          <p:nvPr/>
        </p:nvSpPr>
        <p:spPr>
          <a:xfrm>
            <a:off x="1042111" y="2085085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Component Model Info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6C77A-8734-57D5-C1F9-DD6B36558421}"/>
              </a:ext>
            </a:extLst>
          </p:cNvPr>
          <p:cNvSpPr txBox="1"/>
          <p:nvPr/>
        </p:nvSpPr>
        <p:spPr>
          <a:xfrm>
            <a:off x="1120181" y="2218110"/>
            <a:ext cx="5806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Interfaces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3115A-07ED-CC78-0305-88CAAEC158DB}"/>
              </a:ext>
            </a:extLst>
          </p:cNvPr>
          <p:cNvSpPr txBox="1"/>
          <p:nvPr/>
        </p:nvSpPr>
        <p:spPr>
          <a:xfrm>
            <a:off x="1120181" y="2495569"/>
            <a:ext cx="8915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GUMBO Contracts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EABE99-8B29-E083-B8C5-1671BBC37A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6600" y="1602660"/>
            <a:ext cx="2438400" cy="1349278"/>
          </a:xfrm>
          <a:prstGeom prst="rect">
            <a:avLst/>
          </a:prstGeom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B45937-EE85-48C4-0295-C9FDDA1DC381}"/>
              </a:ext>
            </a:extLst>
          </p:cNvPr>
          <p:cNvSpPr txBox="1"/>
          <p:nvPr/>
        </p:nvSpPr>
        <p:spPr>
          <a:xfrm>
            <a:off x="851215" y="1199574"/>
            <a:ext cx="1276183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System Readme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3AFB86-70ED-2847-5606-715D5F444DA1}"/>
              </a:ext>
            </a:extLst>
          </p:cNvPr>
          <p:cNvSpPr txBox="1"/>
          <p:nvPr/>
        </p:nvSpPr>
        <p:spPr>
          <a:xfrm>
            <a:off x="3142141" y="1199038"/>
            <a:ext cx="5181600" cy="2769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Hyperlinked Artifacts</a:t>
            </a: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7E1B7C05-8347-109E-A5A1-D3C6C6803801}"/>
              </a:ext>
            </a:extLst>
          </p:cNvPr>
          <p:cNvCxnSpPr>
            <a:cxnSpLocks/>
          </p:cNvCxnSpPr>
          <p:nvPr/>
        </p:nvCxnSpPr>
        <p:spPr bwMode="auto">
          <a:xfrm flipV="1">
            <a:off x="1587434" y="2122881"/>
            <a:ext cx="1689166" cy="295284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804746-AB9D-B821-3300-47572E2B1A7D}"/>
              </a:ext>
            </a:extLst>
          </p:cNvPr>
          <p:cNvSpPr txBox="1"/>
          <p:nvPr/>
        </p:nvSpPr>
        <p:spPr>
          <a:xfrm>
            <a:off x="3070683" y="1476037"/>
            <a:ext cx="1021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Component Interface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85E5EDC-55A4-5145-5DE6-AF670914F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8625" y="1930412"/>
            <a:ext cx="1936750" cy="110215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6879853-0F57-1459-8A74-2E149D6BD5C0}"/>
              </a:ext>
            </a:extLst>
          </p:cNvPr>
          <p:cNvSpPr txBox="1"/>
          <p:nvPr/>
        </p:nvSpPr>
        <p:spPr>
          <a:xfrm>
            <a:off x="5708166" y="1744646"/>
            <a:ext cx="8915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GUMBO Contracts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727D71-6678-D24D-9DA4-4AB2808E27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6600" y="3124400"/>
            <a:ext cx="1506896" cy="78914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52689387-284F-7B3A-09C7-43A5A6F8D4EE}"/>
              </a:ext>
            </a:extLst>
          </p:cNvPr>
          <p:cNvCxnSpPr>
            <a:cxnSpLocks/>
            <a:endCxn id="25" idx="1"/>
          </p:cNvCxnSpPr>
          <p:nvPr/>
        </p:nvCxnSpPr>
        <p:spPr bwMode="auto">
          <a:xfrm flipV="1">
            <a:off x="1587336" y="2481488"/>
            <a:ext cx="3921289" cy="232090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4AD4DB4-4981-0049-3A26-F03E9A17C144}"/>
              </a:ext>
            </a:extLst>
          </p:cNvPr>
          <p:cNvSpPr txBox="1"/>
          <p:nvPr/>
        </p:nvSpPr>
        <p:spPr>
          <a:xfrm>
            <a:off x="3158810" y="2935738"/>
            <a:ext cx="8643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Component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069B7D6-4EF8-9E1C-B14D-F26CA6B616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0" y="3352024"/>
            <a:ext cx="2846637" cy="73858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23AC76A-A655-6E67-5D79-7C986551214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2504" y="3271399"/>
            <a:ext cx="2846637" cy="73858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58F453-A141-A571-FDFB-F945DD658100}"/>
              </a:ext>
            </a:extLst>
          </p:cNvPr>
          <p:cNvSpPr txBox="1"/>
          <p:nvPr/>
        </p:nvSpPr>
        <p:spPr>
          <a:xfrm>
            <a:off x="4953000" y="3078561"/>
            <a:ext cx="14943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Component Executable Contracts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885FA2D-E6B9-512B-D2A0-27E176BEBF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6125" y="4131063"/>
            <a:ext cx="2718718" cy="1038305"/>
          </a:xfrm>
          <a:prstGeom prst="rect">
            <a:avLst/>
          </a:prstGeom>
        </p:spPr>
      </p:pic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53B063E2-08CD-88C4-716F-5F4D2F0D1319}"/>
              </a:ext>
            </a:extLst>
          </p:cNvPr>
          <p:cNvCxnSpPr>
            <a:cxnSpLocks/>
          </p:cNvCxnSpPr>
          <p:nvPr/>
        </p:nvCxnSpPr>
        <p:spPr bwMode="auto">
          <a:xfrm>
            <a:off x="1528102" y="3084683"/>
            <a:ext cx="1748498" cy="186716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4B5681FD-C292-3856-339D-9C3917293624}"/>
              </a:ext>
            </a:extLst>
          </p:cNvPr>
          <p:cNvCxnSpPr>
            <a:cxnSpLocks/>
            <a:endCxn id="31" idx="1"/>
          </p:cNvCxnSpPr>
          <p:nvPr/>
        </p:nvCxnSpPr>
        <p:spPr bwMode="auto">
          <a:xfrm>
            <a:off x="1565976" y="3393686"/>
            <a:ext cx="3387024" cy="327632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B74A7E72-594A-8EC2-E8DC-F81FA52F68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842" y="4325362"/>
            <a:ext cx="1921662" cy="64970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D25E972-2D64-EE64-488D-53EC862291E5}"/>
              </a:ext>
            </a:extLst>
          </p:cNvPr>
          <p:cNvSpPr txBox="1"/>
          <p:nvPr/>
        </p:nvSpPr>
        <p:spPr>
          <a:xfrm>
            <a:off x="3142141" y="3975431"/>
            <a:ext cx="85151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Configuration N</a:t>
            </a:r>
            <a:r>
              <a:rPr lang="en-US" sz="700" i="1" baseline="-250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B48F4E-2EEF-877E-0AD6-A9A35C0C32D9}"/>
              </a:ext>
            </a:extLst>
          </p:cNvPr>
          <p:cNvSpPr txBox="1"/>
          <p:nvPr/>
        </p:nvSpPr>
        <p:spPr>
          <a:xfrm>
            <a:off x="6248400" y="4148794"/>
            <a:ext cx="10422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Property Specification</a:t>
            </a:r>
          </a:p>
        </p:txBody>
      </p: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8A3BCF0-B74A-9761-4FA2-FE16BC735953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4233" y="4447618"/>
            <a:ext cx="1315609" cy="206324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E9521E6-A504-FE5F-DDAA-AC8FA9BCC33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7609" y="4554884"/>
            <a:ext cx="1447800" cy="64970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8FE6C64-D276-E112-9F83-6EF750FCECE5}"/>
              </a:ext>
            </a:extLst>
          </p:cNvPr>
          <p:cNvSpPr txBox="1"/>
          <p:nvPr/>
        </p:nvSpPr>
        <p:spPr>
          <a:xfrm>
            <a:off x="8241806" y="4148794"/>
            <a:ext cx="8899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Random Number </a:t>
            </a:r>
            <a:br>
              <a:rPr lang="en-US" sz="700" i="1" dirty="0"/>
            </a:br>
            <a:r>
              <a:rPr lang="en-US" sz="700" i="1" dirty="0"/>
              <a:t>Generation Profile</a:t>
            </a:r>
          </a:p>
          <a:p>
            <a:r>
              <a:rPr lang="en-US" sz="700" i="1" dirty="0"/>
              <a:t>Specification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4F2C34-8578-2390-A51E-E804C50D2E7B}"/>
              </a:ext>
            </a:extLst>
          </p:cNvPr>
          <p:cNvSpPr txBox="1"/>
          <p:nvPr/>
        </p:nvSpPr>
        <p:spPr>
          <a:xfrm>
            <a:off x="1010716" y="4740305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Property Satisfaction </a:t>
            </a:r>
          </a:p>
          <a:p>
            <a:r>
              <a:rPr lang="en-US" sz="800" dirty="0"/>
              <a:t>&amp; Coverage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F52BDD8-14FC-7DB9-4B4C-3E5A8B41D91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988" y="5087929"/>
            <a:ext cx="1441751" cy="153132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5AB1572-0184-4387-10A5-EB26D1D57DFF}"/>
              </a:ext>
            </a:extLst>
          </p:cNvPr>
          <p:cNvSpPr txBox="1"/>
          <p:nvPr/>
        </p:nvSpPr>
        <p:spPr>
          <a:xfrm>
            <a:off x="914400" y="5550704"/>
            <a:ext cx="8386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Configurations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8E37E413-76F4-C386-001A-21004F14B50F}"/>
              </a:ext>
            </a:extLst>
          </p:cNvPr>
          <p:cNvSpPr/>
          <p:nvPr/>
        </p:nvSpPr>
        <p:spPr bwMode="auto">
          <a:xfrm>
            <a:off x="1772988" y="5346588"/>
            <a:ext cx="238784" cy="628176"/>
          </a:xfrm>
          <a:prstGeom prst="leftBrace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4FA79B42-B090-B3EB-9AC8-0E6E878F2536}"/>
              </a:ext>
            </a:extLst>
          </p:cNvPr>
          <p:cNvSpPr/>
          <p:nvPr/>
        </p:nvSpPr>
        <p:spPr bwMode="auto">
          <a:xfrm>
            <a:off x="1565976" y="5999238"/>
            <a:ext cx="238784" cy="356862"/>
          </a:xfrm>
          <a:prstGeom prst="leftBrace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AA51D8-1D84-22A4-1BC1-4E5DEE7E12C3}"/>
              </a:ext>
            </a:extLst>
          </p:cNvPr>
          <p:cNvSpPr txBox="1"/>
          <p:nvPr/>
        </p:nvSpPr>
        <p:spPr>
          <a:xfrm>
            <a:off x="952998" y="5866828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Total Tests</a:t>
            </a:r>
          </a:p>
          <a:p>
            <a:r>
              <a:rPr lang="en-US" sz="800" dirty="0"/>
              <a:t>  </a:t>
            </a:r>
            <a:r>
              <a:rPr lang="en-US" sz="800" i="1" dirty="0"/>
              <a:t>Passing</a:t>
            </a:r>
          </a:p>
          <a:p>
            <a:r>
              <a:rPr lang="en-US" sz="800" i="1" dirty="0"/>
              <a:t>  Failed</a:t>
            </a:r>
          </a:p>
          <a:p>
            <a:r>
              <a:rPr lang="en-US" sz="800" i="1" dirty="0"/>
              <a:t>  </a:t>
            </a:r>
            <a:r>
              <a:rPr lang="en-US" sz="800" i="1" dirty="0" err="1"/>
              <a:t>Unsat</a:t>
            </a:r>
            <a:endParaRPr lang="en-US" sz="8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7BC4F34-A679-E765-6524-D5857C12755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0" y="5541658"/>
            <a:ext cx="1082354" cy="97211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1F775B8-EF17-75E7-EE31-13DEEF5F9358}"/>
              </a:ext>
            </a:extLst>
          </p:cNvPr>
          <p:cNvSpPr txBox="1"/>
          <p:nvPr/>
        </p:nvSpPr>
        <p:spPr>
          <a:xfrm>
            <a:off x="3524618" y="5346588"/>
            <a:ext cx="18389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Configuration </a:t>
            </a:r>
            <a:r>
              <a:rPr lang="en-US" sz="800" i="1" dirty="0"/>
              <a:t>N</a:t>
            </a:r>
            <a:r>
              <a:rPr lang="en-US" sz="800" i="1" baseline="-25000" dirty="0"/>
              <a:t>2</a:t>
            </a:r>
            <a:r>
              <a:rPr lang="en-US" sz="800" dirty="0"/>
              <a:t> results per timeout</a:t>
            </a:r>
          </a:p>
        </p:txBody>
      </p: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E2A3C00D-E884-41A6-6B0A-F83CAF4FD1DD}"/>
              </a:ext>
            </a:extLst>
          </p:cNvPr>
          <p:cNvCxnSpPr>
            <a:cxnSpLocks/>
          </p:cNvCxnSpPr>
          <p:nvPr/>
        </p:nvCxnSpPr>
        <p:spPr bwMode="auto">
          <a:xfrm>
            <a:off x="2602644" y="5579432"/>
            <a:ext cx="1054956" cy="186716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8BE1493B-58E7-3C79-D3F4-9F911CE9E6D4}"/>
              </a:ext>
            </a:extLst>
          </p:cNvPr>
          <p:cNvCxnSpPr>
            <a:cxnSpLocks/>
          </p:cNvCxnSpPr>
          <p:nvPr/>
        </p:nvCxnSpPr>
        <p:spPr bwMode="auto">
          <a:xfrm>
            <a:off x="4689234" y="4808493"/>
            <a:ext cx="2718375" cy="337398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urved Connector 1">
            <a:extLst>
              <a:ext uri="{FF2B5EF4-FFF2-40B4-BE49-F238E27FC236}">
                <a16:creationId xmlns:a16="http://schemas.microsoft.com/office/drawing/2014/main" id="{423AA6D5-598A-7ABC-1A74-99CD538A2ADA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7411" y="4243046"/>
            <a:ext cx="1428714" cy="208248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DAD08048-F0EA-53E6-6FC2-CC329C2374F7}"/>
              </a:ext>
            </a:extLst>
          </p:cNvPr>
          <p:cNvCxnSpPr>
            <a:cxnSpLocks/>
          </p:cNvCxnSpPr>
          <p:nvPr/>
        </p:nvCxnSpPr>
        <p:spPr bwMode="auto">
          <a:xfrm>
            <a:off x="1255308" y="5090768"/>
            <a:ext cx="516036" cy="398155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eft Brace 35">
            <a:extLst>
              <a:ext uri="{FF2B5EF4-FFF2-40B4-BE49-F238E27FC236}">
                <a16:creationId xmlns:a16="http://schemas.microsoft.com/office/drawing/2014/main" id="{AB42C0CF-CD59-1C97-D06C-3C153F4FF26E}"/>
              </a:ext>
            </a:extLst>
          </p:cNvPr>
          <p:cNvSpPr/>
          <p:nvPr/>
        </p:nvSpPr>
        <p:spPr bwMode="auto">
          <a:xfrm>
            <a:off x="3487489" y="5915958"/>
            <a:ext cx="238784" cy="356862"/>
          </a:xfrm>
          <a:prstGeom prst="leftBrace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D48A58-9024-2F5D-925D-B9C0B0E6DEAC}"/>
              </a:ext>
            </a:extLst>
          </p:cNvPr>
          <p:cNvSpPr txBox="1"/>
          <p:nvPr/>
        </p:nvSpPr>
        <p:spPr>
          <a:xfrm>
            <a:off x="2592885" y="6063712"/>
            <a:ext cx="1064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Configuration Tests</a:t>
            </a:r>
          </a:p>
          <a:p>
            <a:r>
              <a:rPr lang="en-US" sz="800" dirty="0"/>
              <a:t>           </a:t>
            </a:r>
            <a:r>
              <a:rPr lang="en-US" sz="800" i="1" dirty="0"/>
              <a:t>Passing</a:t>
            </a:r>
          </a:p>
          <a:p>
            <a:r>
              <a:rPr lang="en-US" sz="800" i="1" dirty="0"/>
              <a:t>           Failed</a:t>
            </a:r>
          </a:p>
          <a:p>
            <a:r>
              <a:rPr lang="en-US" sz="800" i="1" dirty="0"/>
              <a:t>           </a:t>
            </a:r>
            <a:r>
              <a:rPr lang="en-US" sz="800" i="1" dirty="0" err="1"/>
              <a:t>Unsat</a:t>
            </a:r>
            <a:endParaRPr lang="en-US" sz="8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0BDCE52-19C7-69CB-22FB-DE2FA14F547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0388" y="5781193"/>
            <a:ext cx="1341571" cy="84820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1BD91B9-6D1A-4A94-95BE-7F7C6E915290}"/>
              </a:ext>
            </a:extLst>
          </p:cNvPr>
          <p:cNvSpPr txBox="1"/>
          <p:nvPr/>
        </p:nvSpPr>
        <p:spPr>
          <a:xfrm>
            <a:off x="4706857" y="5592693"/>
            <a:ext cx="18389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Configuration </a:t>
            </a:r>
            <a:r>
              <a:rPr lang="en-US" sz="800" i="1" dirty="0"/>
              <a:t>N</a:t>
            </a:r>
            <a:r>
              <a:rPr lang="en-US" sz="800" i="1" baseline="-25000" dirty="0"/>
              <a:t>2</a:t>
            </a:r>
            <a:r>
              <a:rPr lang="en-US" sz="800" dirty="0"/>
              <a:t> results per timeout</a:t>
            </a:r>
          </a:p>
        </p:txBody>
      </p: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BA65B29F-CF5D-C2F1-7D64-7B952926E6AE}"/>
              </a:ext>
            </a:extLst>
          </p:cNvPr>
          <p:cNvCxnSpPr>
            <a:cxnSpLocks/>
          </p:cNvCxnSpPr>
          <p:nvPr/>
        </p:nvCxnSpPr>
        <p:spPr bwMode="auto">
          <a:xfrm>
            <a:off x="4233319" y="5908510"/>
            <a:ext cx="407069" cy="149282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1597A26-4363-48AC-6F61-CE2513ACBE05}"/>
              </a:ext>
            </a:extLst>
          </p:cNvPr>
          <p:cNvGrpSpPr/>
          <p:nvPr/>
        </p:nvGrpSpPr>
        <p:grpSpPr>
          <a:xfrm>
            <a:off x="6301603" y="6080092"/>
            <a:ext cx="1064714" cy="578195"/>
            <a:chOff x="6844042" y="6070292"/>
            <a:chExt cx="1064714" cy="57819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3BD849A-DBF4-F033-BEB6-14D388281CED}"/>
                </a:ext>
              </a:extLst>
            </p:cNvPr>
            <p:cNvSpPr/>
            <p:nvPr/>
          </p:nvSpPr>
          <p:spPr bwMode="auto">
            <a:xfrm>
              <a:off x="6844042" y="6070292"/>
              <a:ext cx="1064714" cy="57819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DFB06ED-9BFE-51F7-C55F-1661605C7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9028" y="6100650"/>
              <a:ext cx="763289" cy="350953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FFD41E0-C2F5-0BD4-1ED9-EE6D0119B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64747" y="6162819"/>
              <a:ext cx="763289" cy="350953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C19D0994-4C53-A556-4D14-73F7D2819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61428" y="6253050"/>
              <a:ext cx="763289" cy="350953"/>
            </a:xfrm>
            <a:prstGeom prst="rect">
              <a:avLst/>
            </a:prstGeom>
          </p:spPr>
        </p:pic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3635B0A3-63EF-7E95-00FE-5C99F74AB9EF}"/>
              </a:ext>
            </a:extLst>
          </p:cNvPr>
          <p:cNvSpPr txBox="1"/>
          <p:nvPr/>
        </p:nvSpPr>
        <p:spPr>
          <a:xfrm>
            <a:off x="6248400" y="6658287"/>
            <a:ext cx="7473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Test Vectors</a:t>
            </a: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F68531DF-A639-3F8C-4EF5-2BDDD7C14B60}"/>
              </a:ext>
            </a:extLst>
          </p:cNvPr>
          <p:cNvCxnSpPr>
            <a:cxnSpLocks/>
          </p:cNvCxnSpPr>
          <p:nvPr/>
        </p:nvCxnSpPr>
        <p:spPr bwMode="auto">
          <a:xfrm>
            <a:off x="5182815" y="6231462"/>
            <a:ext cx="1091654" cy="16933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7120982-B94B-DFB5-895A-C13326071A64}"/>
              </a:ext>
            </a:extLst>
          </p:cNvPr>
          <p:cNvSpPr txBox="1"/>
          <p:nvPr/>
        </p:nvSpPr>
        <p:spPr>
          <a:xfrm>
            <a:off x="6457915" y="5350023"/>
            <a:ext cx="9893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Coverage Reports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4B482A1-C7D9-1AF5-975D-EC532E14427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4713" y="5566380"/>
            <a:ext cx="1912378" cy="429626"/>
          </a:xfrm>
          <a:prstGeom prst="rect">
            <a:avLst/>
          </a:prstGeom>
        </p:spPr>
      </p:pic>
      <p:cxnSp>
        <p:nvCxnSpPr>
          <p:cNvPr id="72" name="Curved Connector 71">
            <a:extLst>
              <a:ext uri="{FF2B5EF4-FFF2-40B4-BE49-F238E27FC236}">
                <a16:creationId xmlns:a16="http://schemas.microsoft.com/office/drawing/2014/main" id="{DA1DC8D5-38FA-39E6-B7B4-486C4449FA44}"/>
              </a:ext>
            </a:extLst>
          </p:cNvPr>
          <p:cNvCxnSpPr>
            <a:cxnSpLocks/>
            <a:endCxn id="71" idx="1"/>
          </p:cNvCxnSpPr>
          <p:nvPr/>
        </p:nvCxnSpPr>
        <p:spPr bwMode="auto">
          <a:xfrm flipV="1">
            <a:off x="5209949" y="5781193"/>
            <a:ext cx="1474764" cy="651826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602BE534-3248-1900-E8A0-015E224958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8024" y="5846837"/>
            <a:ext cx="1000838" cy="66305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2C6AAED-B7EF-503D-2C72-04048AB6A5D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017" y="5974764"/>
            <a:ext cx="1000838" cy="66305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77" name="Curved Connector 76">
            <a:extLst>
              <a:ext uri="{FF2B5EF4-FFF2-40B4-BE49-F238E27FC236}">
                <a16:creationId xmlns:a16="http://schemas.microsoft.com/office/drawing/2014/main" id="{F0DE0FF0-0C43-455C-F240-5BA6DD005F13}"/>
              </a:ext>
            </a:extLst>
          </p:cNvPr>
          <p:cNvCxnSpPr>
            <a:cxnSpLocks/>
          </p:cNvCxnSpPr>
          <p:nvPr/>
        </p:nvCxnSpPr>
        <p:spPr bwMode="auto">
          <a:xfrm>
            <a:off x="5209949" y="5082789"/>
            <a:ext cx="1444892" cy="566764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DC05F06A-8579-9BC5-00EA-88A2BA2D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Auto-Generated Assurance Information</a:t>
            </a:r>
          </a:p>
        </p:txBody>
      </p:sp>
    </p:spTree>
    <p:extLst>
      <p:ext uri="{BB962C8B-B14F-4D97-AF65-F5344CB8AC3E}">
        <p14:creationId xmlns:p14="http://schemas.microsoft.com/office/powerpoint/2010/main" val="374298455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990099"/>
      </a:dk2>
      <a:lt2>
        <a:srgbClr val="1C1C1C"/>
      </a:lt2>
      <a:accent1>
        <a:srgbClr val="6E1EC6"/>
      </a:accent1>
      <a:accent2>
        <a:srgbClr val="FFCF01"/>
      </a:accent2>
      <a:accent3>
        <a:srgbClr val="FFFFFF"/>
      </a:accent3>
      <a:accent4>
        <a:srgbClr val="000000"/>
      </a:accent4>
      <a:accent5>
        <a:srgbClr val="BAABDF"/>
      </a:accent5>
      <a:accent6>
        <a:srgbClr val="E7BB01"/>
      </a:accent6>
      <a:hlink>
        <a:srgbClr val="00CC00"/>
      </a:hlink>
      <a:folHlink>
        <a:srgbClr val="990099"/>
      </a:folHlink>
    </a:clrScheme>
    <a:fontScheme name="Blends">
      <a:majorFont>
        <a:latin typeface="Microsoft Sans Serif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211286</TotalTime>
  <Words>1023</Words>
  <Application>Microsoft Macintosh PowerPoint</Application>
  <PresentationFormat>On-screen Show (4:3)</PresentationFormat>
  <Paragraphs>248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Microsoft Sans Serif</vt:lpstr>
      <vt:lpstr>Tahoma</vt:lpstr>
      <vt:lpstr>Times New Roman</vt:lpstr>
      <vt:lpstr>Wingdings</vt:lpstr>
      <vt:lpstr>Blends</vt:lpstr>
      <vt:lpstr>Goals of this Paper</vt:lpstr>
      <vt:lpstr>HAMR System Testing Concepts</vt:lpstr>
      <vt:lpstr>HAMR System Testing Concepts</vt:lpstr>
      <vt:lpstr>Example System Property</vt:lpstr>
      <vt:lpstr>Injections / Observations at Ports</vt:lpstr>
      <vt:lpstr>Observation Vectors</vt:lpstr>
      <vt:lpstr>Property Specification</vt:lpstr>
      <vt:lpstr>Static Schedule (Intuition)</vt:lpstr>
      <vt:lpstr>Static Schedule Declaration</vt:lpstr>
      <vt:lpstr>Concept of Execution Schema for This Property</vt:lpstr>
      <vt:lpstr>Testing/Debugging API for  Schedule Control</vt:lpstr>
      <vt:lpstr>System Testing Scripts</vt:lpstr>
      <vt:lpstr>Randomization Framework for Injection Vectors</vt:lpstr>
      <vt:lpstr>Scaling Up –  Server-Based Deployment</vt:lpstr>
      <vt:lpstr>Auto-Generated Assurance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John Hatcliff</cp:lastModifiedBy>
  <cp:revision>1431</cp:revision>
  <cp:lastPrinted>2023-09-28T13:37:11Z</cp:lastPrinted>
  <dcterms:created xsi:type="dcterms:W3CDTF">2016-11-14T12:47:14Z</dcterms:created>
  <dcterms:modified xsi:type="dcterms:W3CDTF">2025-04-17T17:10:12Z</dcterms:modified>
</cp:coreProperties>
</file>